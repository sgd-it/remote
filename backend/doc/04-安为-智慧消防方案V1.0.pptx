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8"/>
  </p:notesMasterIdLst>
  <p:handoutMasterIdLst>
    <p:handoutMasterId r:id="rId40"/>
  </p:handoutMasterIdLst>
  <p:sldIdLst>
    <p:sldId id="291" r:id="rId4"/>
    <p:sldId id="293" r:id="rId5"/>
    <p:sldId id="316" r:id="rId6"/>
    <p:sldId id="322" r:id="rId7"/>
    <p:sldId id="282" r:id="rId9"/>
    <p:sldId id="328" r:id="rId10"/>
    <p:sldId id="329" r:id="rId11"/>
    <p:sldId id="285" r:id="rId12"/>
    <p:sldId id="284" r:id="rId13"/>
    <p:sldId id="331" r:id="rId14"/>
    <p:sldId id="305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345" r:id="rId28"/>
    <p:sldId id="346" r:id="rId29"/>
    <p:sldId id="349" r:id="rId30"/>
    <p:sldId id="350" r:id="rId31"/>
    <p:sldId id="351" r:id="rId32"/>
    <p:sldId id="352" r:id="rId33"/>
    <p:sldId id="347" r:id="rId34"/>
    <p:sldId id="348" r:id="rId35"/>
    <p:sldId id="355" r:id="rId36"/>
    <p:sldId id="327" r:id="rId37"/>
    <p:sldId id="265" r:id="rId38"/>
    <p:sldId id="306" r:id="rId39"/>
  </p:sldIdLst>
  <p:sldSz cx="12192000" cy="6858000"/>
  <p:notesSz cx="12192000" cy="6858000"/>
  <p:custDataLst>
    <p:tags r:id="rId4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23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哒哒 熊猫" initials="哒哒" lastIdx="1" clrIdx="0"/>
  <p:cmAuthor id="8" name="姜伟光" initials="姜" lastIdx="1" clrIdx="0"/>
  <p:cmAuthor id="2" name="作者" initials="A" lastIdx="0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  <p:cmAuthor id="9" name="马博" initials="马" lastIdx="2" clrIdx="4"/>
  <p:cmAuthor id="10" name="Emily Lu Chen" initials="E" lastIdx="3" clrIdx="11"/>
  <p:cmAuthor id="11" name="Lynette Zitong Li" initials="L" lastIdx="1" clrIdx="4"/>
  <p:cmAuthor id="12" name="Windows 用户" initials="W" lastIdx="8" clrIdx="12"/>
  <p:cmAuthor id="13" name="Chris Kun Yu Lin" initials="C" lastIdx="77" clrIdx="6"/>
  <p:cmAuthor id="14" name="WL" initials="WL" lastIdx="1" clrIdx="13"/>
  <p:cmAuthor id="16" name="周旭东" initials="周" lastIdx="1" clrIdx="15"/>
  <p:cmAuthor id="18" name="lisa" initials="l" lastIdx="2" clrIdx="17"/>
  <p:cmAuthor id="19" name="刘 振业" initials="刘" lastIdx="1" clrIdx="18"/>
  <p:cmAuthor id="15" name="leon" initials="l" lastIdx="2" clrIdx="14"/>
  <p:cmAuthor id="31" name="Author" initials="A" lastIdx="0" clrIdx="30"/>
  <p:cmAuthor id="32" name="李楠10047711" initials="李楠10047711" lastIdx="2" clrIdx="31"/>
  <p:cmAuthor id="20" name="10010179" initials="SSS" lastIdx="1" clrIdx="19"/>
  <p:cmAuthor id="21" name="10066351" initials="1" lastIdx="2" clrIdx="0"/>
  <p:cmAuthor id="22" name="蔡建楠" initials="caijianna" lastIdx="15" clrIdx="17"/>
  <p:cmAuthor id="26" name="10270945" initials="1" lastIdx="2" clrIdx="25"/>
  <p:cmAuthor id="2000" name="周文_R7fau6bq" initials="authorId_265585642" lastIdx="1630185183" clrIdx="0"/>
  <p:cmAuthor id="2001" name="zhang shaohui" initials="zs" lastIdx="5" clrIdx="33"/>
  <p:cmAuthor id="23" name="赵诚荣10027092" initials="赵" lastIdx="2" clrIdx="25"/>
  <p:cmAuthor id="2002" name="王竑达" initials="王竑达" lastIdx="1" clrIdx="34"/>
  <p:cmAuthor id="2003" name="梁鹏" initials="u" lastIdx="1" clrIdx="35"/>
  <p:cmAuthor id="25" name="wyz" initials="w" lastIdx="1" clrIdx="24"/>
  <p:cmAuthor id="2004" name="范 斌" initials="范" lastIdx="1" clrIdx="36"/>
  <p:cmAuthor id="27" name="10295142" initials="1" lastIdx="1" clrIdx="26"/>
  <p:cmAuthor id="2005" name="毕邺" initials="党委办公室" lastIdx="2" clrIdx="37"/>
  <p:cmAuthor id="28" name="Hou Yingfeng" initials="H" lastIdx="10" clrIdx="23"/>
  <p:cmAuthor id="30" name="10056791" initials="ZTE" lastIdx="1" clrIdx="29"/>
  <p:cmAuthor id="33" name="610007" initials="6" lastIdx="0" clrIdx="32"/>
  <p:cmAuthor id="24" name="未知的使用者4" initials="未" lastIdx="1" clrIdx="0"/>
  <p:cmAuthor id="29" name="未知的使用者20" initials="未" lastIdx="1" clrIdx="0"/>
  <p:cmAuthor id="34" name="未知的使用者18" initials="未" lastIdx="1" clrIdx="0"/>
  <p:cmAuthor id="35" name="未知的使用者15" initials="未" lastIdx="1" clrIdx="0"/>
  <p:cmAuthor id="36" name="Charley" initials="C" lastIdx="1" clrIdx="0"/>
  <p:cmAuthor id="37" name="Deanna Schuler (Bookey Consulting)" initials="D" lastIdx="2" clrIdx="0"/>
  <p:cmAuthor id="38" name="Wenwen" initials="W" lastIdx="1" clrIdx="1"/>
  <p:cmAuthor id="39" name="LiuHui" initials="L" lastIdx="1" clrIdx="0"/>
  <p:cmAuthor id="40" name="P1063cindychen" initials="P" lastIdx="6" clrIdx="0"/>
  <p:cmAuthor id="41" name="AbuSina" initials="A" lastIdx="2" clrIdx="0"/>
  <p:cmAuthor id="43" name="廖麗華" initials="廖" lastIdx="1" clrIdx="0"/>
  <p:cmAuthor id="44" name="P00035_jeremy" initials="P" lastIdx="1" clrIdx="0"/>
  <p:cmAuthor id="45" name="未知的使用者12" initials="未" lastIdx="1" clrIdx="0"/>
  <p:cmAuthor id="46" name="未知的使用者13" initials="未" lastIdx="5" clrIdx="1"/>
  <p:cmAuthor id="47" name="未知的使用者14" initials="未" lastIdx="0" clrIdx="1"/>
  <p:cmAuthor id="48" name="未知的使用者7" initials="未" lastIdx="1" clrIdx="0"/>
  <p:cmAuthor id="49" name="未知的使用者8" initials="未" lastIdx="1" clrIdx="0"/>
  <p:cmAuthor id="50" name="未知的使用者9" initials="未" lastIdx="1" clrIdx="0"/>
  <p:cmAuthor id="51" name="未知的使用者11" initials="未" lastIdx="0" clrIdx="1"/>
  <p:cmAuthor id="52" name="未知的使用者27" initials="未" lastIdx="1" clrIdx="0"/>
  <p:cmAuthor id="53" name="未知的使用者28" initials="未" lastIdx="3" clrIdx="1"/>
  <p:cmAuthor id="54" name="未知的使用者29" initials="未" lastIdx="1" clrIdx="1"/>
  <p:cmAuthor id="55" name="未知的使用者21" initials="未" lastIdx="1" clrIdx="0"/>
  <p:cmAuthor id="56" name="未知的使用者22" initials="未" lastIdx="3" clrIdx="1"/>
  <p:cmAuthor id="57" name="未知的使用者23" initials="未" lastIdx="1" clrIdx="1"/>
  <p:cmAuthor id="58" name="未知的使用者24" initials="未" lastIdx="1" clrIdx="0"/>
  <p:cmAuthor id="59" name="未知的使用者25" initials="未" lastIdx="3" clrIdx="1"/>
  <p:cmAuthor id="60" name="未知的使用者26" initials="未" lastIdx="1" clrIdx="1"/>
  <p:cmAuthor id="61" name="August" initials="A" lastIdx="1" clrIdx="0"/>
  <p:cmAuthor id="62" name="qihua-DCMS" initials="q" lastIdx="0" clrIdx="0"/>
  <p:cmAuthor id="63" name="未知用户5" initials="未" lastIdx="1" clrIdx="0"/>
  <p:cmAuthor id="64" name="YUMINGNJ" initials="Y" lastIdx="3" clrIdx="0"/>
  <p:cmAuthor id="65" name="daphne" initials="d" lastIdx="1" clrIdx="0"/>
  <p:cmAuthor id="66" name="未知用户8" initials="未" lastIdx="1" clrIdx="0"/>
  <p:cmAuthor id="67" name="Unknown User7" initials="U" lastIdx="1" clrIdx="0"/>
  <p:cmAuthor id="68" name="Unknown User8" initials="U" lastIdx="1" clrIdx="0"/>
  <p:cmAuthor id="69" name="未知用户15" initials="未" lastIdx="1" clrIdx="0"/>
  <p:cmAuthor id="70" name="未知用户13" initials="未" lastIdx="1" clrIdx="0"/>
  <p:cmAuthor id="71" name="未知用户14" initials="未" lastIdx="1" clrIdx="0"/>
  <p:cmAuthor id="72" name="Jason Wang" initials="J" lastIdx="1" clrIdx="0"/>
  <p:cmAuthor id="73" name="未知的使用者3" initials="未" lastIdx="0" clrIdx="1"/>
  <p:cmAuthor id="74" name="qiantong" initials="q" lastIdx="3" clrIdx="1"/>
  <p:cmAuthor id="76" name="陈驹洲" initials="A" lastIdx="1" clrIdx="25"/>
  <p:cmAuthor id="77" name="许 雪琳" initials="许" lastIdx="1" clrIdx="26"/>
  <p:cmAuthor id="78" name="未知的使用者31" initials="未" lastIdx="1" clrIdx="0"/>
  <p:cmAuthor id="79" name="未知的使用者32" initials="未" lastIdx="1" clrIdx="0"/>
  <p:cmAuthor id="80" name="未知的使用者51" initials="未" lastIdx="10" clrIdx="0"/>
  <p:cmAuthor id="81" name="未知的使用者53" initials="未" lastIdx="1" clrIdx="0"/>
  <p:cmAuthor id="82" name="未知的使用者46" initials="未" lastIdx="1" clrIdx="1"/>
  <p:cmAuthor id="83" name="yuanzh" initials="y" lastIdx="1" clrIdx="1"/>
  <p:cmAuthor id="84" name="曾红" initials="曾" lastIdx="0" clrIdx="0"/>
  <p:cmAuthor id="85" name="未知用户16" initials="未" lastIdx="1" clrIdx="0"/>
  <p:cmAuthor id="86" name="未知用户17" initials="未" lastIdx="0" clrIdx="1"/>
  <p:cmAuthor id="87" name="mm" initials="m" lastIdx="1" clrIdx="0"/>
  <p:cmAuthor id="88" name="liupeng" initials="l" lastIdx="1" clrIdx="1"/>
  <p:cmAuthor id="89" name="周宏達JerryChou" initials="周" lastIdx="6" clrIdx="2"/>
  <p:cmAuthor id="90" name="luxu" initials="l" lastIdx="22" clrIdx="0"/>
  <p:cmAuthor id="91" name="hl sun" initials="h" lastIdx="1" clrIdx="0"/>
  <p:cmAuthor id="92" name="未知的使用者50" initials="未" lastIdx="1" clrIdx="0"/>
  <p:cmAuthor id="93" name="未知的使用者48" initials="未" lastIdx="1" clrIdx="0"/>
  <p:cmAuthor id="94" name="未知的使用者49" initials="未" lastIdx="1" clrIdx="0"/>
  <p:cmAuthor id="95" name="未知用户22" initials="未" lastIdx="1" clrIdx="0"/>
  <p:cmAuthor id="96" name="未知用户24" initials="未" lastIdx="1" clrIdx="0"/>
  <p:cmAuthor id="97" name="Mary Feil-Jacobs" initials="M" lastIdx="43" clrIdx="1"/>
  <p:cmAuthor id="98" name="朱晓瑜" initials="朱" lastIdx="54" clrIdx="0"/>
  <p:cmAuthor id="100" name="djj" initials="d" lastIdx="2" clrIdx="0"/>
  <p:cmAuthor id="101" name="張秀娟" initials="張" lastIdx="1" clrIdx="2"/>
  <p:cmAuthor id="102" name="lianghb" initials="l" lastIdx="19" clrIdx="0"/>
  <p:cmAuthor id="103" name="Shawna Strickland" initials="S" lastIdx="2" clrIdx="0"/>
  <p:cmAuthor id="104" name="linyd" initials="l" lastIdx="3" clrIdx="1"/>
  <p:cmAuthor id="105" name="Ashley Eberenz" initials="A" lastIdx="7" clrIdx="1"/>
  <p:cmAuthor id="106" name="muzi wei" initials="m" lastIdx="1" clrIdx="0"/>
  <p:cmAuthor id="108" name="未知用户56" initials="未" lastIdx="1" clrIdx="0"/>
  <p:cmAuthor id="109" name="未知用户55" initials="未" lastIdx="1" clrIdx="0"/>
  <p:cmAuthor id="110" name="未知用户51" initials="未" lastIdx="1" clrIdx="1"/>
  <p:cmAuthor id="111" name="LeeElva" initials="L" lastIdx="1" clrIdx="0"/>
  <p:cmAuthor id="112" name="唐可欣" initials="唐" lastIdx="1" clrIdx="0"/>
  <p:cmAuthor id="113" name="未知的使用者36" initials="未" lastIdx="10" clrIdx="0"/>
  <p:cmAuthor id="114" name="未知的使用者35" initials="未" lastIdx="1" clrIdx="0"/>
  <p:cmAuthor id="115" name="未知的使用者33" initials="未" lastIdx="1" clrIdx="0"/>
  <p:cmAuthor id="116" name="王鹏凯" initials="王" lastIdx="1" clrIdx="0"/>
  <p:cmAuthor id="117" name="未知的使用者34" initials="未" lastIdx="1" clrIdx="0"/>
  <p:cmAuthor id="118" name="未知用户25" initials="未" lastIdx="1" clrIdx="0"/>
  <p:cmAuthor id="119" name="未知用户28" initials="未" lastIdx="5" clrIdx="1"/>
  <p:cmAuthor id="120" name="未知用户27" initials="未" lastIdx="1" clrIdx="1"/>
  <p:cmAuthor id="121" name="未知用户12" initials="未" lastIdx="8" clrIdx="0"/>
  <p:cmAuthor id="122" name="未知的使用者37" initials="未" lastIdx="8" clrIdx="0"/>
  <p:cmAuthor id="123" name="Harry xu" initials="H" lastIdx="1" clrIdx="0"/>
  <p:cmAuthor id="124" name="未知的使用者59" initials="未" lastIdx="8" clrIdx="0"/>
  <p:cmAuthor id="125" name="未知的使用者60" initials="未" lastIdx="1" clrIdx="0"/>
  <p:cmAuthor id="126" name="未知的使用者54" initials="未" lastIdx="1" clrIdx="0"/>
  <p:cmAuthor id="127" name="未知用户47" initials="未" lastIdx="6" clrIdx="0"/>
  <p:cmAuthor id="128" name="未知用户53" initials="未" lastIdx="10" clrIdx="0"/>
  <p:cmAuthor id="129" name="未知用户48" initials="未" lastIdx="1" clrIdx="0"/>
  <p:cmAuthor id="130" name="未知用户49" initials="未" lastIdx="1" clrIdx="0"/>
  <p:cmAuthor id="131" name="未知的使用者56" initials="未" lastIdx="6" clrIdx="0"/>
  <p:cmAuthor id="132" name="未知的使用者61" initials="未" lastIdx="1" clrIdx="0"/>
  <p:cmAuthor id="133" name="未知的使用者62" initials="未" lastIdx="1" clrIdx="1"/>
  <p:cmAuthor id="134" name="未知的使用者58" initials="未" lastIdx="1" clrIdx="0"/>
  <p:cmAuthor id="135" name="未知用户50" initials="未" lastIdx="1" clrIdx="0"/>
  <p:cmAuthor id="136" name="未知用户52" initials="未" lastIdx="1" clrIdx="0"/>
  <p:cmAuthor id="137" name="未知的使用者120" initials="未" lastIdx="1" clrIdx="0"/>
  <p:cmAuthor id="138" name="未知的使用者109" initials="未" lastIdx="5" clrIdx="1"/>
  <p:cmAuthor id="139" name="未知的使用者110" initials="未" lastIdx="1" clrIdx="1"/>
  <p:cmAuthor id="140" name="未知的使用者111" initials="未" lastIdx="1" clrIdx="0"/>
  <p:cmAuthor id="141" name="未知的使用者121" initials="未" lastIdx="1" clrIdx="0"/>
  <p:cmAuthor id="142" name="thomas" initials="t" lastIdx="1" clrIdx="49"/>
  <p:cmAuthor id="143" name="未知的使用者113" initials="未" lastIdx="1" clrIdx="0"/>
  <p:cmAuthor id="144" name="未知的使用者122" initials="未" lastIdx="1" clrIdx="0"/>
  <p:cmAuthor id="145" name="未知的使用者123" initials="未" lastIdx="8" clrIdx="0"/>
  <p:cmAuthor id="146" name="未知的使用者124" initials="未" lastIdx="8" clrIdx="0"/>
  <p:cmAuthor id="147" name="未知的使用者125" initials="未" lastIdx="1" clrIdx="0"/>
  <p:cmAuthor id="148" name="未知的使用者118" initials="未" lastIdx="1" clrIdx="0"/>
  <p:cmAuthor id="149" name="未知的使用者126" initials="未" lastIdx="1" clrIdx="0"/>
  <p:cmAuthor id="150" name="未知用户57" initials="未" lastIdx="1" clrIdx="0"/>
  <p:cmAuthor id="151" name="未知用户58" initials="未" lastIdx="5" clrIdx="1"/>
  <p:cmAuthor id="152" name="未知用户59" initials="未" lastIdx="0" clrIdx="1"/>
  <p:cmAuthor id="153" name="yuexuejun" initials="y" lastIdx="3" clrIdx="0"/>
  <p:cmAuthor id="154" name="未知的使用者74" initials="未" lastIdx="8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58" name="未知的使用者67" initials="未" lastIdx="8" clrIdx="0"/>
  <p:cmAuthor id="159" name="未知的使用者68" initials="未" lastIdx="1" clrIdx="0"/>
  <p:cmAuthor id="160" name="未知的使用者69" initials="未" lastIdx="1" clrIdx="0"/>
  <p:cmAuthor id="161" name="未知的使用者43" initials="未" lastIdx="1" clrIdx="0"/>
  <p:cmAuthor id="162" name="未知的使用者40" initials="未" lastIdx="1" clrIdx="0"/>
  <p:cmAuthor id="163" name="未知的使用者55" initials="未" lastIdx="1" clrIdx="0"/>
  <p:cmAuthor id="164" name="未知的使用者52" initials="未" lastIdx="1" clrIdx="1"/>
  <p:cmAuthor id="165" name="未知的使用者72" initials="未" lastIdx="1" clrIdx="0"/>
  <p:cmAuthor id="166" name="未知的使用者71" initials="未" lastIdx="1" clrIdx="1"/>
  <p:cmAuthor id="167" name="不明使用者20" initials="不" lastIdx="1" clrIdx="0"/>
  <p:cmAuthor id="168" name="不明使用者21" initials="不" lastIdx="1" clrIdx="0"/>
  <p:cmAuthor id="169" name="不明使用者18" initials="不" lastIdx="0" clrIdx="1"/>
  <p:cmAuthor id="170" name="不明使用者19" initials="不" lastIdx="1" clrIdx="0"/>
  <p:cmAuthor id="171" name="未知用户2" initials="未" lastIdx="1" clrIdx="0"/>
  <p:cmAuthor id="172" name="未知用户93" initials="未" lastIdx="1" clrIdx="0"/>
  <p:cmAuthor id="173" name="未知用户90" initials="未" lastIdx="5" clrIdx="1"/>
  <p:cmAuthor id="174" name="未知用户91" initials="未" lastIdx="0" clrIdx="1"/>
  <p:cmAuthor id="175" name="未知用户92" initials="未" lastIdx="1" clrIdx="0"/>
  <p:cmAuthor id="176" name="未知用户74" initials="未" lastIdx="5" clrIdx="1"/>
  <p:cmAuthor id="177" name="未知用户75" initials="未" lastIdx="8" clrIdx="0"/>
  <p:cmAuthor id="178" name="未知用户76" initials="未" lastIdx="1" clrIdx="0"/>
  <p:cmAuthor id="179" name="未知用户77" initials="未" lastIdx="8" clrIdx="0"/>
  <p:cmAuthor id="180" name="未知用户78" initials="未" lastIdx="8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213" name="未知的使用者138" initials="未" lastIdx="10" clrIdx="0"/>
  <p:cmAuthor id="214" name="未知的使用者139" initials="未" lastIdx="1" clrIdx="0"/>
  <p:cmAuthor id="215" name="未知的使用者140" initials="未" lastIdx="1" clrIdx="1"/>
  <p:cmAuthor id="216" name="未知的使用者197" initials="未" lastIdx="8" clrIdx="0"/>
  <p:cmAuthor id="217" name="未知的使用者162" initials="未" lastIdx="8" clrIdx="0"/>
  <p:cmAuthor id="218" name="未知的使用者163" initials="未" lastIdx="1" clrIdx="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5" name="未知用户6" initials="未" lastIdx="1" clrIdx="0"/>
  <p:cmAuthor id="236" name="未知用户7" initials="未" lastIdx="1" clrIdx="0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242" name="未知的使用者182" initials="未" lastIdx="1" clrIdx="0"/>
  <p:cmAuthor id="243" name="未知的使用者183" initials="未" lastIdx="2" clrIdx="0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4" name="未知用户39" initials="未" lastIdx="1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0" name="未知用户35" initials="未" lastIdx="1" clrIdx="0"/>
  <p:cmAuthor id="271" name="未知用户36" initials="未" lastIdx="1" clrIdx="0"/>
  <p:cmAuthor id="272" name="未知用户26" initials="未" lastIdx="1" clrIdx="0"/>
  <p:cmAuthor id="273" name="未知用户23" initials="未" lastIdx="1" clrIdx="0"/>
  <p:cmAuthor id="274" name="未知用户29" initials="未" lastIdx="1" clrIdx="0"/>
  <p:cmAuthor id="275" name="未知用户30" initials="未" lastIdx="2" clrIdx="0"/>
  <p:cmAuthor id="276" name="未知用户31" initials="未" lastIdx="1" clrIdx="1"/>
  <p:cmAuthor id="277" name="未知用户32" initials="未" lastIdx="1" clrIdx="0"/>
  <p:cmAuthor id="278" name="未知用户33" initials="未" lastIdx="1" clrIdx="0"/>
  <p:cmAuthor id="279" name="未知用户34" initials="未" lastIdx="2" clrIdx="0"/>
  <p:cmAuthor id="280" name="huang gerrard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63"/>
    <a:srgbClr val="1D44BF"/>
    <a:srgbClr val="E33737"/>
    <a:srgbClr val="FF1B1B"/>
    <a:srgbClr val="C60000"/>
    <a:srgbClr val="880000"/>
    <a:srgbClr val="FBDB03"/>
    <a:srgbClr val="1C43CC"/>
    <a:srgbClr val="FF0000"/>
    <a:srgbClr val="366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3"/>
        <p:guide pos="23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82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9855" y="309880"/>
            <a:ext cx="9432289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C43C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C43C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C43C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安为科技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6000" y="76200"/>
            <a:ext cx="2232660" cy="786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70890" y="974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40105" y="494665"/>
            <a:ext cx="10515600" cy="2744470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656000" y="381708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gradFill rotWithShape="0">
          <a:gsLst>
            <a:gs pos="3000">
              <a:schemeClr val="bg1"/>
            </a:gs>
            <a:gs pos="38000">
              <a:srgbClr val="E8F1F8">
                <a:alpha val="25000"/>
              </a:srgbClr>
            </a:gs>
            <a:gs pos="99000">
              <a:srgbClr val="B6DFF6">
                <a:alpha val="15000"/>
              </a:srgbClr>
            </a:gs>
            <a:gs pos="70000">
              <a:srgbClr val="D2EDF6">
                <a:alpha val="15000"/>
              </a:srgb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1" Type="http://schemas.openxmlformats.org/officeDocument/2006/relationships/image" Target="../media/image1.png"/><Relationship Id="rId10" Type="http://schemas.openxmlformats.org/officeDocument/2006/relationships/tags" Target="../tags/tag2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 userDrawn="1"/>
        </p:nvSpPr>
        <p:spPr>
          <a:xfrm>
            <a:off x="678180" y="335279"/>
            <a:ext cx="264160" cy="421005"/>
          </a:xfrm>
          <a:custGeom>
            <a:avLst/>
            <a:gdLst/>
            <a:ahLst/>
            <a:cxnLst/>
            <a:rect l="l" t="t" r="r" b="b"/>
            <a:pathLst>
              <a:path w="264159" h="421005">
                <a:moveTo>
                  <a:pt x="131064" y="420624"/>
                </a:moveTo>
                <a:lnTo>
                  <a:pt x="0" y="420624"/>
                </a:lnTo>
                <a:lnTo>
                  <a:pt x="131064" y="210312"/>
                </a:lnTo>
                <a:lnTo>
                  <a:pt x="0" y="0"/>
                </a:lnTo>
                <a:lnTo>
                  <a:pt x="131064" y="0"/>
                </a:lnTo>
                <a:lnTo>
                  <a:pt x="263652" y="210312"/>
                </a:lnTo>
                <a:lnTo>
                  <a:pt x="131064" y="420624"/>
                </a:lnTo>
                <a:close/>
              </a:path>
            </a:pathLst>
          </a:custGeom>
          <a:solidFill>
            <a:srgbClr val="1C4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 userDrawn="1"/>
        </p:nvSpPr>
        <p:spPr>
          <a:xfrm>
            <a:off x="0" y="335279"/>
            <a:ext cx="736600" cy="416559"/>
          </a:xfrm>
          <a:custGeom>
            <a:avLst/>
            <a:gdLst/>
            <a:ahLst/>
            <a:cxnLst/>
            <a:rect l="l" t="t" r="r" b="b"/>
            <a:pathLst>
              <a:path w="736600" h="416559">
                <a:moveTo>
                  <a:pt x="528828" y="416052"/>
                </a:moveTo>
                <a:lnTo>
                  <a:pt x="0" y="416052"/>
                </a:lnTo>
                <a:lnTo>
                  <a:pt x="0" y="0"/>
                </a:lnTo>
                <a:lnTo>
                  <a:pt x="528828" y="0"/>
                </a:lnTo>
                <a:lnTo>
                  <a:pt x="736092" y="208788"/>
                </a:lnTo>
                <a:lnTo>
                  <a:pt x="528828" y="416052"/>
                </a:lnTo>
                <a:close/>
              </a:path>
            </a:pathLst>
          </a:custGeom>
          <a:solidFill>
            <a:srgbClr val="1C4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 userDrawn="1"/>
        </p:nvSpPr>
        <p:spPr>
          <a:xfrm>
            <a:off x="886967" y="335279"/>
            <a:ext cx="264160" cy="421005"/>
          </a:xfrm>
          <a:custGeom>
            <a:avLst/>
            <a:gdLst/>
            <a:ahLst/>
            <a:cxnLst/>
            <a:rect l="l" t="t" r="r" b="b"/>
            <a:pathLst>
              <a:path w="264159" h="421005">
                <a:moveTo>
                  <a:pt x="132587" y="420624"/>
                </a:moveTo>
                <a:lnTo>
                  <a:pt x="0" y="420624"/>
                </a:lnTo>
                <a:lnTo>
                  <a:pt x="132587" y="210312"/>
                </a:lnTo>
                <a:lnTo>
                  <a:pt x="0" y="0"/>
                </a:lnTo>
                <a:lnTo>
                  <a:pt x="132587" y="0"/>
                </a:lnTo>
                <a:lnTo>
                  <a:pt x="263651" y="210312"/>
                </a:lnTo>
                <a:lnTo>
                  <a:pt x="132587" y="420624"/>
                </a:lnTo>
                <a:close/>
              </a:path>
            </a:pathLst>
          </a:custGeom>
          <a:solidFill>
            <a:srgbClr val="1C4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C43CC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24890"/>
            <a:ext cx="12191365" cy="0"/>
          </a:xfrm>
          <a:prstGeom prst="line">
            <a:avLst/>
          </a:prstGeom>
          <a:ln>
            <a:solidFill>
              <a:srgbClr val="1C43CC"/>
            </a:solidFill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安为科技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906000" y="76200"/>
            <a:ext cx="2232660" cy="7867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62000" y="152355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45941" y="0"/>
            <a:ext cx="3846059" cy="3208744"/>
          </a:xfrm>
          <a:prstGeom prst="rect">
            <a:avLst/>
          </a:prstGeom>
        </p:spPr>
      </p:pic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24890"/>
            <a:ext cx="12191365" cy="0"/>
          </a:xfrm>
          <a:prstGeom prst="line">
            <a:avLst/>
          </a:prstGeom>
          <a:ln>
            <a:solidFill>
              <a:srgbClr val="1C43CC"/>
            </a:solidFill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 descr="安为科技1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906000" y="76200"/>
            <a:ext cx="2232660" cy="7867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5.xml"/><Relationship Id="rId5" Type="http://schemas.openxmlformats.org/officeDocument/2006/relationships/image" Target="../media/image4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20.jpeg"/><Relationship Id="rId7" Type="http://schemas.openxmlformats.org/officeDocument/2006/relationships/image" Target="../media/image19.jpe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5.png"/><Relationship Id="rId24" Type="http://schemas.openxmlformats.org/officeDocument/2006/relationships/image" Target="../media/image34.png"/><Relationship Id="rId23" Type="http://schemas.openxmlformats.org/officeDocument/2006/relationships/image" Target="../media/image33.png"/><Relationship Id="rId22" Type="http://schemas.openxmlformats.org/officeDocument/2006/relationships/image" Target="../media/image32.png"/><Relationship Id="rId21" Type="http://schemas.openxmlformats.org/officeDocument/2006/relationships/image" Target="../media/image31.png"/><Relationship Id="rId20" Type="http://schemas.openxmlformats.org/officeDocument/2006/relationships/image" Target="../media/image30.png"/><Relationship Id="rId2" Type="http://schemas.openxmlformats.org/officeDocument/2006/relationships/image" Target="../media/image14.jpeg"/><Relationship Id="rId19" Type="http://schemas.openxmlformats.org/officeDocument/2006/relationships/tags" Target="../tags/tag27.xml"/><Relationship Id="rId18" Type="http://schemas.openxmlformats.org/officeDocument/2006/relationships/image" Target="../media/image29.png"/><Relationship Id="rId17" Type="http://schemas.openxmlformats.org/officeDocument/2006/relationships/tags" Target="../tags/tag26.xml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jpeg"/><Relationship Id="rId7" Type="http://schemas.openxmlformats.org/officeDocument/2006/relationships/image" Target="../media/image68.jpeg"/><Relationship Id="rId6" Type="http://schemas.openxmlformats.org/officeDocument/2006/relationships/image" Target="../media/image67.jpeg"/><Relationship Id="rId5" Type="http://schemas.openxmlformats.org/officeDocument/2006/relationships/image" Target="../media/image66.png"/><Relationship Id="rId4" Type="http://schemas.openxmlformats.org/officeDocument/2006/relationships/image" Target="../media/image65.jpe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1.jpeg"/><Relationship Id="rId1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jpeg"/><Relationship Id="rId1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7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image" Target="../media/image7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8.xml"/><Relationship Id="rId3" Type="http://schemas.openxmlformats.org/officeDocument/2006/relationships/tags" Target="../tags/tag30.xml"/><Relationship Id="rId29" Type="http://schemas.openxmlformats.org/officeDocument/2006/relationships/tags" Target="../tags/tag48.xml"/><Relationship Id="rId28" Type="http://schemas.openxmlformats.org/officeDocument/2006/relationships/tags" Target="../tags/tag47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image" Target="../media/image103.svg"/><Relationship Id="rId24" Type="http://schemas.openxmlformats.org/officeDocument/2006/relationships/image" Target="../media/image102.png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image" Target="../media/image101.svg"/><Relationship Id="rId20" Type="http://schemas.openxmlformats.org/officeDocument/2006/relationships/image" Target="../media/image100.png"/><Relationship Id="rId2" Type="http://schemas.openxmlformats.org/officeDocument/2006/relationships/tags" Target="../tags/tag29.xml"/><Relationship Id="rId19" Type="http://schemas.openxmlformats.org/officeDocument/2006/relationships/tags" Target="../tags/tag42.xml"/><Relationship Id="rId18" Type="http://schemas.openxmlformats.org/officeDocument/2006/relationships/image" Target="../media/image99.svg"/><Relationship Id="rId17" Type="http://schemas.openxmlformats.org/officeDocument/2006/relationships/image" Target="../media/image98.png"/><Relationship Id="rId16" Type="http://schemas.openxmlformats.org/officeDocument/2006/relationships/tags" Target="../tags/tag41.xml"/><Relationship Id="rId15" Type="http://schemas.openxmlformats.org/officeDocument/2006/relationships/image" Target="../media/image97.svg"/><Relationship Id="rId14" Type="http://schemas.openxmlformats.org/officeDocument/2006/relationships/image" Target="../media/image96.png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78.xml"/><Relationship Id="rId3" Type="http://schemas.openxmlformats.org/officeDocument/2006/relationships/tags" Target="../tags/tag51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image" Target="../media/image109.svg"/><Relationship Id="rId7" Type="http://schemas.openxmlformats.org/officeDocument/2006/relationships/image" Target="../media/image108.sv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jpeg"/><Relationship Id="rId3" Type="http://schemas.openxmlformats.org/officeDocument/2006/relationships/image" Target="../media/image104.jpeg"/><Relationship Id="rId2" Type="http://schemas.openxmlformats.org/officeDocument/2006/relationships/tags" Target="../tags/tag80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0795"/>
            <a:ext cx="12192000" cy="5633085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5615940"/>
          </a:xfrm>
          <a:prstGeom prst="rect">
            <a:avLst/>
          </a:prstGeom>
          <a:gradFill>
            <a:gsLst>
              <a:gs pos="58000">
                <a:srgbClr val="2750C2">
                  <a:alpha val="75000"/>
                </a:srgbClr>
              </a:gs>
              <a:gs pos="19000">
                <a:srgbClr val="1C43CC"/>
              </a:gs>
              <a:gs pos="100000">
                <a:srgbClr val="315DB7">
                  <a:alpha val="20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14400" y="1752600"/>
            <a:ext cx="10515600" cy="1366520"/>
          </a:xfrm>
        </p:spPr>
        <p:txBody>
          <a:bodyPr>
            <a:normAutofit/>
          </a:bodyPr>
          <a:lstStyle/>
          <a:p>
            <a:r>
              <a:rPr lang="zh-CN" altLang="en-US" sz="8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智慧消防</a:t>
            </a:r>
            <a:endParaRPr lang="zh-CN" altLang="en-US" sz="8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0285" y="5867400"/>
            <a:ext cx="10173970" cy="709295"/>
            <a:chOff x="1589" y="7722"/>
            <a:chExt cx="16022" cy="1117"/>
          </a:xfrm>
        </p:grpSpPr>
        <p:sp>
          <p:nvSpPr>
            <p:cNvPr id="5" name="矩形 4"/>
            <p:cNvSpPr/>
            <p:nvPr/>
          </p:nvSpPr>
          <p:spPr>
            <a:xfrm>
              <a:off x="1589" y="7722"/>
              <a:ext cx="16022" cy="62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sz="2000" b="1" spc="300" dirty="0">
                  <a:solidFill>
                    <a:srgbClr val="1C43CC"/>
                  </a:solidFill>
                  <a:effectLst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+mn-lt"/>
                </a:rPr>
                <a:t>广东安为安全科技有限公司</a:t>
              </a:r>
              <a:endParaRPr lang="zh-CN" sz="2000" b="1" spc="300" dirty="0">
                <a:solidFill>
                  <a:srgbClr val="1C43CC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6" name="文字方塊 6"/>
            <p:cNvSpPr txBox="1"/>
            <p:nvPr>
              <p:custDataLst>
                <p:tags r:id="rId3"/>
              </p:custDataLst>
            </p:nvPr>
          </p:nvSpPr>
          <p:spPr>
            <a:xfrm>
              <a:off x="4451" y="8308"/>
              <a:ext cx="1029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 defTabSz="914400" fontAlgn="ctr"/>
              <a:r>
                <a:rPr lang="en-US" altLang="zh-CN" sz="1600">
                  <a:solidFill>
                    <a:srgbClr val="1C43CC"/>
                  </a:solidFill>
                  <a:latin typeface="微软雅黑" panose="020B0503020204020204" charset="-122"/>
                  <a:ea typeface="微软雅黑" panose="020B0503020204020204" charset="-122"/>
                </a:rPr>
                <a:t>Guangdong Anwei Safety Technology Co,Ltd</a:t>
              </a:r>
              <a:endParaRPr lang="en-US" altLang="zh-CN" sz="1600">
                <a:solidFill>
                  <a:srgbClr val="1C43C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标题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62000" y="3256280"/>
            <a:ext cx="10515600" cy="7207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5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城市消防远程</a:t>
            </a:r>
            <a:r>
              <a:rPr lang="en-US" altLang="zh-CN" sz="5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“</a:t>
            </a:r>
            <a:r>
              <a:rPr lang="zh-CN" altLang="en-US" sz="5000">
                <a:solidFill>
                  <a:srgbClr val="FF1B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监</a:t>
            </a:r>
            <a:r>
              <a:rPr lang="en-US" altLang="zh-CN" sz="5000">
                <a:solidFill>
                  <a:srgbClr val="FF1B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+</a:t>
            </a:r>
            <a:r>
              <a:rPr lang="zh-CN" altLang="en-US" sz="5000">
                <a:solidFill>
                  <a:srgbClr val="FF1B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控</a:t>
            </a:r>
            <a:r>
              <a:rPr lang="en-US" altLang="zh-CN" sz="5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”</a:t>
            </a:r>
            <a:r>
              <a:rPr lang="zh-CN" altLang="en-US" sz="5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+mn-ea"/>
              </a:rPr>
              <a:t>管理系统</a:t>
            </a:r>
            <a:endParaRPr lang="zh-CN" altLang="en-US" sz="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sym typeface="+mn-ea"/>
            </a:endParaRPr>
          </a:p>
        </p:txBody>
      </p:sp>
      <p:pic>
        <p:nvPicPr>
          <p:cNvPr id="12" name="图片 11" descr="安为科技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04800"/>
            <a:ext cx="1956435" cy="68961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5562600"/>
            <a:ext cx="12192000" cy="108585"/>
          </a:xfrm>
          <a:prstGeom prst="rect">
            <a:avLst/>
          </a:prstGeom>
          <a:solidFill>
            <a:srgbClr val="FBDB0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2862413" y="4438083"/>
            <a:ext cx="6467475" cy="416560"/>
            <a:chOff x="2501054" y="1194097"/>
            <a:chExt cx="6480301" cy="417385"/>
          </a:xfrm>
        </p:grpSpPr>
        <p:sp>
          <p:nvSpPr>
            <p:cNvPr id="28" name="矩形 27"/>
            <p:cNvSpPr/>
            <p:nvPr/>
          </p:nvSpPr>
          <p:spPr>
            <a:xfrm>
              <a:off x="2501054" y="1194097"/>
              <a:ext cx="6480301" cy="417385"/>
            </a:xfrm>
            <a:prstGeom prst="rect">
              <a:avLst/>
            </a:prstGeom>
            <a:gradFill>
              <a:gsLst>
                <a:gs pos="53000">
                  <a:sysClr val="window" lastClr="FFFFFF"/>
                </a:gs>
                <a:gs pos="0">
                  <a:srgbClr val="4874CB">
                    <a:lumMod val="45000"/>
                    <a:lumOff val="55000"/>
                    <a:alpha val="0"/>
                  </a:srgbClr>
                </a:gs>
                <a:gs pos="100000">
                  <a:srgbClr val="4874CB">
                    <a:lumMod val="30000"/>
                    <a:lumOff val="70000"/>
                    <a:alpha val="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4874CB">
                <a:shade val="50000"/>
              </a:srgbClr>
            </a:lnRef>
            <a:fillRef idx="1">
              <a:srgbClr val="4874CB"/>
            </a:fillRef>
            <a:effectRef idx="0">
              <a:srgbClr val="4874CB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en-US" altLang="zh-CN" sz="1200" spc="300" dirty="0">
                <a:gradFill>
                  <a:gsLst>
                    <a:gs pos="53000">
                      <a:srgbClr val="1965B9"/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0" scaled="0"/>
                </a:gradFill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328054" y="1220132"/>
              <a:ext cx="4826000" cy="3690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zh-CN" altLang="en-US" b="1" spc="300" dirty="0">
                  <a:solidFill>
                    <a:srgbClr val="111E3D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让工业更安全，让企业更智能</a:t>
              </a:r>
              <a:endParaRPr lang="zh-CN" altLang="en-US" b="1" spc="300" dirty="0">
                <a:solidFill>
                  <a:srgbClr val="111E3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altLang="en-US">
                <a:ea typeface="微软雅黑" panose="020B0503020204020204" charset="-122"/>
              </a:rPr>
              <a:t>公司简介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945" y="1262380"/>
            <a:ext cx="609600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ct val="150000"/>
              </a:lnSpc>
              <a:buNone/>
            </a:pPr>
            <a:r>
              <a:rPr lang="en-US" altLang="zh-CN" sz="1600" b="1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安为科技创立于2013年，是一家以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“AI+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工业物联网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双引擎驱动的高科技企业。</a:t>
            </a:r>
            <a:r>
              <a:rPr lang="zh-CN" altLang="en-US" sz="1600" b="1" kern="0" spc="50">
                <a:solidFill>
                  <a:srgbClr val="2573C5">
                    <a:alpha val="8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公司依托自主研发的“安为·智脑”大模型与行业级风险知识图谱，将计算机视觉、多模态传感、边缘计算等前沿技术深度融合于安全生产的全场景、全链条、全周期之中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，面向工贸、危化、消防、道路运输等高危行业，实现风险秒级识别、隐患动态清零、应急一键联动，持续推动企业从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事故管理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“风险治理”的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系统化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跃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迁。</a:t>
            </a:r>
            <a:endParaRPr lang="zh-CN" altLang="en-US" sz="1600" kern="0" spc="50">
              <a:solidFill>
                <a:schemeClr val="tx1">
                  <a:alpha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None/>
            </a:pPr>
            <a:endParaRPr lang="zh-CN" altLang="en-US" sz="1600" kern="0" spc="50">
              <a:solidFill>
                <a:schemeClr val="tx1">
                  <a:alpha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None/>
            </a:pP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作为专精特新中小企业、国家高新技术企业、创新型中小企业、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AAA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信用企业，安为科技已建立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ISO9001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ISO14001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ISO20000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ISO27000</a:t>
            </a:r>
            <a:r>
              <a:rPr lang="zh-CN" altLang="en-US" sz="1600" kern="0" spc="50">
                <a:solidFill>
                  <a:schemeClr val="tx1">
                    <a:alpha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等完备的质量与信息安全体系，累计取得七十余项自主知识产权，</a:t>
            </a:r>
            <a:r>
              <a:rPr lang="zh-CN" altLang="en-US" sz="1600" b="1" kern="0" spc="50">
                <a:solidFill>
                  <a:srgbClr val="2573C5">
                    <a:alpha val="8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以AI重新定义安全价值，把风险扼杀于萌芽，把事故损失降至最低，把合规成本转化为增长红利！</a:t>
            </a:r>
            <a:endParaRPr lang="zh-CN" altLang="en-US" sz="1600" b="1" kern="0" spc="50">
              <a:solidFill>
                <a:srgbClr val="2573C5">
                  <a:alpha val="8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250" r="17803" b="1570"/>
          <a:stretch>
            <a:fillRect/>
          </a:stretch>
        </p:blipFill>
        <p:spPr>
          <a:xfrm>
            <a:off x="6598920" y="1334135"/>
            <a:ext cx="5239385" cy="5015230"/>
          </a:xfrm>
          <a:prstGeom prst="round1Rect">
            <a:avLst>
              <a:gd name="adj" fmla="val 21207"/>
            </a:avLst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altLang="en-US">
                <a:ea typeface="微软雅黑" panose="020B0503020204020204" charset="-122"/>
              </a:rPr>
              <a:t>企业荣誉</a:t>
            </a:r>
            <a:endParaRPr lang="zh-CN" altLang="en-US"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77850" y="1658620"/>
            <a:ext cx="11365865" cy="5160010"/>
            <a:chOff x="990" y="2612"/>
            <a:chExt cx="17899" cy="812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r="68287"/>
            <a:stretch>
              <a:fillRect/>
            </a:stretch>
          </p:blipFill>
          <p:spPr>
            <a:xfrm>
              <a:off x="1078" y="6867"/>
              <a:ext cx="2439" cy="353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81" y="6867"/>
              <a:ext cx="2494" cy="352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8" y="6867"/>
              <a:ext cx="2501" cy="3530"/>
            </a:xfrm>
            <a:prstGeom prst="rect">
              <a:avLst/>
            </a:prstGeom>
          </p:spPr>
        </p:pic>
        <p:pic>
          <p:nvPicPr>
            <p:cNvPr id="14" name="图片 13" descr="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66" y="3245"/>
              <a:ext cx="4894" cy="3273"/>
            </a:xfrm>
            <a:prstGeom prst="rect">
              <a:avLst/>
            </a:prstGeom>
          </p:spPr>
        </p:pic>
        <p:pic>
          <p:nvPicPr>
            <p:cNvPr id="15" name="图片 14" descr="1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5" y="3229"/>
              <a:ext cx="4821" cy="3266"/>
            </a:xfrm>
            <a:prstGeom prst="rect">
              <a:avLst/>
            </a:prstGeom>
          </p:spPr>
        </p:pic>
        <p:pic>
          <p:nvPicPr>
            <p:cNvPr id="24" name="图片 23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4355" y="2612"/>
              <a:ext cx="4535" cy="8127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/>
            <a:srcRect l="7620" t="14103" r="6499" b="6026"/>
            <a:stretch>
              <a:fillRect/>
            </a:stretch>
          </p:blipFill>
          <p:spPr>
            <a:xfrm>
              <a:off x="990" y="3230"/>
              <a:ext cx="4895" cy="3267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rcRect l="33329" r="32996"/>
            <a:stretch>
              <a:fillRect/>
            </a:stretch>
          </p:blipFill>
          <p:spPr>
            <a:xfrm>
              <a:off x="3700" y="6867"/>
              <a:ext cx="2590" cy="353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"/>
            <a:srcRect l="67164"/>
            <a:stretch>
              <a:fillRect/>
            </a:stretch>
          </p:blipFill>
          <p:spPr>
            <a:xfrm>
              <a:off x="6473" y="6868"/>
              <a:ext cx="2525" cy="352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3110">
                <a:ea typeface="微软雅黑" panose="020B0503020204020204" charset="-122"/>
              </a:rPr>
              <a:t>企业资质</a:t>
            </a:r>
            <a:endParaRPr lang="zh-CN" altLang="en-US" sz="3110"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521"/>
          <a:stretch>
            <a:fillRect/>
          </a:stretch>
        </p:blipFill>
        <p:spPr>
          <a:xfrm>
            <a:off x="238760" y="4468495"/>
            <a:ext cx="1303020" cy="1795780"/>
          </a:xfrm>
          <a:prstGeom prst="rect">
            <a:avLst/>
          </a:prstGeom>
        </p:spPr>
      </p:pic>
      <p:pic>
        <p:nvPicPr>
          <p:cNvPr id="26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830" y="4181475"/>
            <a:ext cx="1483995" cy="970915"/>
          </a:xfrm>
          <a:prstGeom prst="rect">
            <a:avLst/>
          </a:prstGeom>
        </p:spPr>
      </p:pic>
      <p:pic>
        <p:nvPicPr>
          <p:cNvPr id="3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860" y="3008630"/>
            <a:ext cx="1490980" cy="1062355"/>
          </a:xfrm>
          <a:prstGeom prst="rect">
            <a:avLst/>
          </a:prstGeom>
        </p:spPr>
      </p:pic>
      <p:pic>
        <p:nvPicPr>
          <p:cNvPr id="35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450" y="3008630"/>
            <a:ext cx="1468755" cy="1075055"/>
          </a:xfrm>
          <a:prstGeom prst="rect">
            <a:avLst/>
          </a:prstGeom>
        </p:spPr>
      </p:pic>
      <p:pic>
        <p:nvPicPr>
          <p:cNvPr id="7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350" y="4133850"/>
            <a:ext cx="1482090" cy="1065530"/>
          </a:xfrm>
          <a:prstGeom prst="rect">
            <a:avLst/>
          </a:prstGeom>
        </p:spPr>
      </p:pic>
      <p:pic>
        <p:nvPicPr>
          <p:cNvPr id="39" name="picture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510" y="4135120"/>
            <a:ext cx="1473200" cy="1062990"/>
          </a:xfrm>
          <a:prstGeom prst="rect">
            <a:avLst/>
          </a:prstGeom>
        </p:spPr>
      </p:pic>
      <p:pic>
        <p:nvPicPr>
          <p:cNvPr id="8" name="picture 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5875" y="5257800"/>
            <a:ext cx="1463675" cy="1042035"/>
          </a:xfrm>
          <a:prstGeom prst="rect">
            <a:avLst/>
          </a:prstGeom>
        </p:spPr>
      </p:pic>
      <p:pic>
        <p:nvPicPr>
          <p:cNvPr id="9" name="picture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955" y="5257800"/>
            <a:ext cx="1464945" cy="1030605"/>
          </a:xfrm>
          <a:prstGeom prst="rect">
            <a:avLst/>
          </a:prstGeom>
        </p:spPr>
      </p:pic>
      <p:pic>
        <p:nvPicPr>
          <p:cNvPr id="49" name="picture 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4035" y="5257800"/>
            <a:ext cx="1504315" cy="1062355"/>
          </a:xfrm>
          <a:prstGeom prst="rect">
            <a:avLst/>
          </a:prstGeom>
        </p:spPr>
      </p:pic>
      <p:pic>
        <p:nvPicPr>
          <p:cNvPr id="11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4130" y="3008630"/>
            <a:ext cx="1446530" cy="1036320"/>
          </a:xfrm>
          <a:prstGeom prst="rect">
            <a:avLst/>
          </a:prstGeom>
        </p:spPr>
      </p:pic>
      <p:pic>
        <p:nvPicPr>
          <p:cNvPr id="51" name="图片 50" descr="4-安为安全-智能防火监督系统_00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294130" y="4468495"/>
            <a:ext cx="1310005" cy="1798320"/>
          </a:xfrm>
          <a:prstGeom prst="rect">
            <a:avLst/>
          </a:prstGeom>
        </p:spPr>
      </p:pic>
      <p:pic>
        <p:nvPicPr>
          <p:cNvPr id="12" name="图片 11" descr="1-安为-智慧消防云平台系统_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5365" y="4461510"/>
            <a:ext cx="1337945" cy="1816100"/>
          </a:xfrm>
          <a:prstGeom prst="rect">
            <a:avLst/>
          </a:prstGeom>
        </p:spPr>
      </p:pic>
      <p:pic>
        <p:nvPicPr>
          <p:cNvPr id="53" name="图片 52" descr="2-安为-安全生产数字化管理系统_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4540" y="4468495"/>
            <a:ext cx="1337945" cy="1816100"/>
          </a:xfrm>
          <a:prstGeom prst="rect">
            <a:avLst/>
          </a:prstGeom>
        </p:spPr>
      </p:pic>
      <p:pic>
        <p:nvPicPr>
          <p:cNvPr id="54" name="图片 53" descr="1-安为-智慧消防云平台系统_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3715" y="4468495"/>
            <a:ext cx="1337945" cy="1816100"/>
          </a:xfrm>
          <a:prstGeom prst="rect">
            <a:avLst/>
          </a:prstGeom>
        </p:spPr>
      </p:pic>
      <p:pic>
        <p:nvPicPr>
          <p:cNvPr id="55" name="图片 54" descr="3-安为-智能巡检管理系统_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42890" y="4449445"/>
            <a:ext cx="1337945" cy="18161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5"/>
          <a:srcRect l="1720" t="3991" r="2208" b="2820"/>
          <a:stretch>
            <a:fillRect/>
          </a:stretch>
        </p:blipFill>
        <p:spPr>
          <a:xfrm>
            <a:off x="9287510" y="1463040"/>
            <a:ext cx="2322195" cy="13335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/>
          <a:srcRect l="1291" t="9343" r="581" b="6571"/>
          <a:stretch>
            <a:fillRect/>
          </a:stretch>
        </p:blipFill>
        <p:spPr>
          <a:xfrm>
            <a:off x="6826885" y="1457325"/>
            <a:ext cx="2324735" cy="13766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 rot="0">
            <a:off x="238760" y="1543685"/>
            <a:ext cx="2120265" cy="2540000"/>
            <a:chOff x="372" y="2431"/>
            <a:chExt cx="3548" cy="4250"/>
          </a:xfrm>
        </p:grpSpPr>
        <p:pic>
          <p:nvPicPr>
            <p:cNvPr id="15" name="图片 14" descr="企业荣誉介绍PPT内容页 (1)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 l="16005" t="26963" r="58312" b="17852"/>
            <a:stretch>
              <a:fillRect/>
            </a:stretch>
          </p:blipFill>
          <p:spPr>
            <a:xfrm>
              <a:off x="372" y="2431"/>
              <a:ext cx="3549" cy="4250"/>
            </a:xfrm>
            <a:prstGeom prst="rect">
              <a:avLst/>
            </a:prstGeom>
          </p:spPr>
        </p:pic>
        <p:pic>
          <p:nvPicPr>
            <p:cNvPr id="17" name="图片 16" descr="624e9d566a0476b44c7fe95ba66e4cec_3451229762230547587_m_0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888" y="2768"/>
              <a:ext cx="2576" cy="348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 rot="0">
            <a:off x="1125220" y="1543685"/>
            <a:ext cx="2120265" cy="2540000"/>
            <a:chOff x="545" y="2431"/>
            <a:chExt cx="3548" cy="4250"/>
          </a:xfrm>
        </p:grpSpPr>
        <p:pic>
          <p:nvPicPr>
            <p:cNvPr id="61" name="图片 60" descr="企业荣誉介绍PPT内容页 (1)"/>
            <p:cNvPicPr>
              <a:picLocks noChangeAspect="1"/>
            </p:cNvPicPr>
            <p:nvPr/>
          </p:nvPicPr>
          <p:blipFill>
            <a:blip r:embed="rId18"/>
            <a:srcRect l="16005" t="26963" r="58312" b="17852"/>
            <a:stretch>
              <a:fillRect/>
            </a:stretch>
          </p:blipFill>
          <p:spPr>
            <a:xfrm>
              <a:off x="545" y="2431"/>
              <a:ext cx="3549" cy="4250"/>
            </a:xfrm>
            <a:prstGeom prst="rect">
              <a:avLst/>
            </a:prstGeom>
          </p:spPr>
        </p:pic>
        <p:pic>
          <p:nvPicPr>
            <p:cNvPr id="62" name="图片 61" descr="2026SR0370694电动自行车火灾报警与自动灭火智慧防控系统--安为计算机软件著作权登记证书_0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04" y="2768"/>
              <a:ext cx="2614" cy="3537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 rot="0">
            <a:off x="2011680" y="1542415"/>
            <a:ext cx="2121535" cy="2540000"/>
            <a:chOff x="2945" y="2429"/>
            <a:chExt cx="3550" cy="4250"/>
          </a:xfrm>
        </p:grpSpPr>
        <p:pic>
          <p:nvPicPr>
            <p:cNvPr id="57" name="图片 56" descr="企业荣誉介绍PPT内容页 (1)"/>
            <p:cNvPicPr>
              <a:picLocks noChangeAspect="1"/>
            </p:cNvPicPr>
            <p:nvPr/>
          </p:nvPicPr>
          <p:blipFill>
            <a:blip r:embed="rId18"/>
            <a:srcRect l="16005" t="26963" r="58312" b="17852"/>
            <a:stretch>
              <a:fillRect/>
            </a:stretch>
          </p:blipFill>
          <p:spPr>
            <a:xfrm>
              <a:off x="2945" y="2429"/>
              <a:ext cx="3550" cy="4251"/>
            </a:xfrm>
            <a:prstGeom prst="rect">
              <a:avLst/>
            </a:prstGeom>
          </p:spPr>
        </p:pic>
        <p:pic>
          <p:nvPicPr>
            <p:cNvPr id="60" name="图片 59" descr="2025SR1302715烟花爆竹安全风险监测预警系统V1.0--（安为）计算机软件著作权登记证书(2)_0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402" y="2768"/>
              <a:ext cx="2587" cy="3503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 rot="0">
            <a:off x="2899410" y="1543685"/>
            <a:ext cx="2098040" cy="2536825"/>
            <a:chOff x="981" y="3303"/>
            <a:chExt cx="2716" cy="3283"/>
          </a:xfrm>
        </p:grpSpPr>
        <p:pic>
          <p:nvPicPr>
            <p:cNvPr id="27" name="图片 26" descr="企业荣誉介绍PPT内容页 (1)"/>
            <p:cNvPicPr>
              <a:picLocks noChangeAspect="1"/>
            </p:cNvPicPr>
            <p:nvPr/>
          </p:nvPicPr>
          <p:blipFill>
            <a:blip r:embed="rId18"/>
            <a:srcRect l="16005" t="26990" r="58313" b="17852"/>
            <a:stretch>
              <a:fillRect/>
            </a:stretch>
          </p:blipFill>
          <p:spPr>
            <a:xfrm>
              <a:off x="981" y="3303"/>
              <a:ext cx="2716" cy="3283"/>
            </a:xfrm>
            <a:prstGeom prst="rect">
              <a:avLst/>
            </a:prstGeom>
          </p:spPr>
        </p:pic>
        <p:pic>
          <p:nvPicPr>
            <p:cNvPr id="28" name="图片 27" descr="粉尘涉爆企业安全生产风险监测预警管理系统_00_00"/>
            <p:cNvPicPr>
              <a:picLocks noChangeAspect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>
            <a:xfrm>
              <a:off x="1334" y="3554"/>
              <a:ext cx="2010" cy="2717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 rot="0">
            <a:off x="3763645" y="1543685"/>
            <a:ext cx="2092325" cy="2529840"/>
            <a:chOff x="7565" y="3241"/>
            <a:chExt cx="2950" cy="3566"/>
          </a:xfrm>
        </p:grpSpPr>
        <p:pic>
          <p:nvPicPr>
            <p:cNvPr id="59" name="图片 58" descr="企业荣誉介绍PPT内容页 (1)"/>
            <p:cNvPicPr>
              <a:picLocks noChangeAspect="1"/>
            </p:cNvPicPr>
            <p:nvPr/>
          </p:nvPicPr>
          <p:blipFill>
            <a:blip r:embed="rId18"/>
            <a:srcRect l="16005" t="26990" r="58313" b="17852"/>
            <a:stretch>
              <a:fillRect/>
            </a:stretch>
          </p:blipFill>
          <p:spPr>
            <a:xfrm>
              <a:off x="7565" y="3241"/>
              <a:ext cx="2951" cy="3567"/>
            </a:xfrm>
            <a:prstGeom prst="rect">
              <a:avLst/>
            </a:prstGeom>
          </p:spPr>
        </p:pic>
        <p:pic>
          <p:nvPicPr>
            <p:cNvPr id="63" name="图片 62" descr="铝铸企业安全生产风险监测预警管理系统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949" y="3497"/>
              <a:ext cx="2217" cy="2969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4622165" y="1526540"/>
            <a:ext cx="2134870" cy="2557780"/>
            <a:chOff x="545" y="2431"/>
            <a:chExt cx="3548" cy="4250"/>
          </a:xfrm>
        </p:grpSpPr>
        <p:pic>
          <p:nvPicPr>
            <p:cNvPr id="50" name="图片 49" descr="企业荣誉介绍PPT内容页 (1)"/>
            <p:cNvPicPr>
              <a:picLocks noChangeAspect="1"/>
            </p:cNvPicPr>
            <p:nvPr/>
          </p:nvPicPr>
          <p:blipFill>
            <a:blip r:embed="rId18"/>
            <a:srcRect l="16005" t="26963" r="58312" b="17852"/>
            <a:stretch>
              <a:fillRect/>
            </a:stretch>
          </p:blipFill>
          <p:spPr>
            <a:xfrm>
              <a:off x="545" y="2431"/>
              <a:ext cx="3549" cy="4250"/>
            </a:xfrm>
            <a:prstGeom prst="rect">
              <a:avLst/>
            </a:prstGeom>
          </p:spPr>
        </p:pic>
        <p:pic>
          <p:nvPicPr>
            <p:cNvPr id="2" name="图片 1" descr="1-安为-智慧消防云平台系统_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1" y="2668"/>
              <a:ext cx="2658" cy="3603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典型事故与经济损失</a:t>
            </a:r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75716" y="1571243"/>
            <a:ext cx="4937759" cy="419862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98108" y="1586483"/>
            <a:ext cx="4477511" cy="4320540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786434" y="5944082"/>
            <a:ext cx="9880600" cy="83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106045" algn="l" rtl="0" eaLnBrk="0">
              <a:lnSpc>
                <a:spcPct val="104000"/>
              </a:lnSpc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《调查报告》</a:t>
            </a:r>
            <a:r>
              <a:rPr sz="17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同时认定：</a:t>
            </a:r>
            <a:r>
              <a:rPr sz="1700" kern="0" spc="-6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起火后，消防控制室无人值班值守，未及时发现火情，消防系统没有启</a:t>
            </a:r>
            <a:r>
              <a:rPr sz="17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动，事发现场喷淋没有水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700" kern="0" spc="-7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“这导致火灾发生后，</a:t>
            </a:r>
            <a:r>
              <a:rPr sz="17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自动喷水灭火系统不能第一时间正常启用对初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火灾进行有效灭火，使火灾蔓延。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457200" y="1066800"/>
            <a:ext cx="10337800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5450" algn="l" rtl="0" eaLnBrk="0">
              <a:lnSpc>
                <a:spcPts val="3165"/>
              </a:lnSpc>
              <a:spcBef>
                <a:spcPts val="5"/>
              </a:spcBef>
            </a:pP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东莞万江街道“4.</a:t>
            </a:r>
            <a:r>
              <a:rPr sz="2300" b="1" kern="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4”较大火灾事故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（4死9伤）</a:t>
            </a:r>
            <a:r>
              <a:rPr sz="2300" b="1" kern="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调查报告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典型事故与经济损失</a:t>
            </a:r>
            <a:endParaRPr lang="zh-CN" altLang="en-US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230745" y="1668780"/>
            <a:ext cx="4138930" cy="5082540"/>
          </a:xfrm>
          <a:prstGeom prst="rect">
            <a:avLst/>
          </a:prstGeom>
        </p:spPr>
      </p:pic>
      <p:sp>
        <p:nvSpPr>
          <p:cNvPr id="44" name="path 44"/>
          <p:cNvSpPr/>
          <p:nvPr/>
        </p:nvSpPr>
        <p:spPr>
          <a:xfrm>
            <a:off x="6163373" y="3893058"/>
            <a:ext cx="335534" cy="1288922"/>
          </a:xfrm>
          <a:custGeom>
            <a:avLst/>
            <a:gdLst/>
            <a:ahLst/>
            <a:cxnLst/>
            <a:rect l="0" t="0" r="0" b="0"/>
            <a:pathLst>
              <a:path w="528" h="2029">
                <a:moveTo>
                  <a:pt x="528" y="1522"/>
                </a:moveTo>
                <a:lnTo>
                  <a:pt x="264" y="1522"/>
                </a:lnTo>
                <a:lnTo>
                  <a:pt x="264" y="2029"/>
                </a:lnTo>
                <a:lnTo>
                  <a:pt x="0" y="1015"/>
                </a:lnTo>
                <a:lnTo>
                  <a:pt x="264" y="0"/>
                </a:lnTo>
                <a:lnTo>
                  <a:pt x="264" y="507"/>
                </a:lnTo>
                <a:lnTo>
                  <a:pt x="528" y="507"/>
                </a:lnTo>
                <a:lnTo>
                  <a:pt x="528" y="1522"/>
                </a:lnTo>
              </a:path>
            </a:pathLst>
          </a:custGeom>
          <a:solidFill>
            <a:srgbClr val="4F81BD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6625" y="1669033"/>
            <a:ext cx="5463540" cy="313182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829945" y="1088390"/>
            <a:ext cx="10696575" cy="1073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r>
              <a:rPr sz="2700" b="1" kern="0" spc="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东莞市清溪镇“9.2”较大火</a:t>
            </a:r>
            <a:r>
              <a:rPr sz="2700" b="1" kern="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灾事故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（7死5伤）</a:t>
            </a:r>
            <a:r>
              <a:rPr sz="2700" b="1" kern="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调查报告及处理结果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041025" y="5645244"/>
            <a:ext cx="5230495" cy="1021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ct val="87000"/>
              </a:lnSpc>
            </a:pPr>
            <a:r>
              <a:rPr sz="2000" b="1" kern="0" spc="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追责</a:t>
            </a:r>
            <a:r>
              <a:rPr sz="2000" b="1" kern="0" spc="-2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32080" algn="l" rtl="0" eaLnBrk="0">
              <a:lnSpc>
                <a:spcPct val="91000"/>
              </a:lnSpc>
            </a:pPr>
            <a:r>
              <a:rPr sz="2000" b="1" kern="0" spc="-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“管行业必须管安全，管业务必须管安全，管生</a:t>
            </a:r>
            <a:r>
              <a:rPr sz="2000" b="1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产经营必须管安全”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055257" y="5041615"/>
            <a:ext cx="5227320" cy="593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" algn="l" rtl="0" eaLnBrk="0">
              <a:lnSpc>
                <a:spcPct val="87000"/>
              </a:lnSpc>
            </a:pPr>
            <a:r>
              <a:rPr sz="2000" b="1" kern="0" spc="-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国家对安全的重视：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290"/>
              </a:spcBef>
            </a:pPr>
            <a:r>
              <a:rPr sz="20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坚持“党政同责</a:t>
            </a:r>
            <a:r>
              <a:rPr sz="2000" b="1" kern="0" spc="-3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，一岗双责</a:t>
            </a:r>
            <a:r>
              <a:rPr sz="2000" b="1" kern="0" spc="-3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，齐抓共管</a:t>
            </a:r>
            <a:r>
              <a:rPr sz="2000" b="1" kern="0" spc="-3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失职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典型事故与经济损失</a:t>
            </a:r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350520" y="1066800"/>
            <a:ext cx="11546840" cy="74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深圳20万元/平方米豪宅发生爆燃事故</a:t>
            </a:r>
            <a:r>
              <a:rPr sz="2700" b="1" kern="0" spc="-4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6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事故造成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1人死亡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06011" y="1879091"/>
            <a:ext cx="4552188" cy="443788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92185" y="1917700"/>
            <a:ext cx="3153410" cy="4399280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287655" y="2402205"/>
            <a:ext cx="3331210" cy="3159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</a:pPr>
            <a:endParaRPr sz="2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3335" indent="225425" algn="l" rtl="0" eaLnBrk="0">
              <a:lnSpc>
                <a:spcPct val="124000"/>
              </a:lnSpc>
            </a:pP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2024年12月11</a:t>
            </a:r>
            <a:r>
              <a:rPr kern="0" spc="-3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日，</a:t>
            </a: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深圳湾华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润悦府二期一间住宅发生爆燃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事故，造成一人死亡。</a:t>
            </a:r>
            <a:endParaRPr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12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5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2700" indent="459105" algn="l" rtl="0" eaLnBrk="0">
              <a:lnSpc>
                <a:spcPct val="124000"/>
              </a:lnSpc>
            </a:pP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初步排查，起火点位</a:t>
            </a:r>
            <a:r>
              <a:rPr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于该住宅楼28层C户附近，起火原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因为燃气爆炸，爆炸原因仍在</a:t>
            </a:r>
            <a:r>
              <a:rPr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排查。事发后，有人员坠楼</a:t>
            </a:r>
            <a:r>
              <a:rPr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目前已被120急救车拉走。</a:t>
            </a:r>
            <a:endParaRPr kern="0" spc="70" dirty="0">
              <a:solidFill>
                <a:srgbClr val="000000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8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政策</a:t>
            </a:r>
            <a:r>
              <a:rPr lang="zh-CN" spc="8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支持</a:t>
            </a:r>
            <a:endParaRPr lang="en-US" altLang="zh-CN" spc="80" dirty="0">
              <a:solidFill>
                <a:srgbClr val="003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473899" y="5410761"/>
            <a:ext cx="6343650" cy="1363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15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</a:t>
            </a:r>
            <a:r>
              <a:rPr sz="14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“十四五”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国家消防工作规划》安委〔20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22〕2号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《广州市消防规定》广州市第十六届人民代表大会常务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委员会公告 第27号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 广东省人民政府令——《广东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省消防工作若干规定》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《重庆市消防条例》重庆市人民代表大会常务委员会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公告〔六届〕第28号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《深圳经济特区消防条例》深圳市第七届人民代表大会常务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委员会公告 第102号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7086788" y="5410761"/>
            <a:ext cx="4721225" cy="1364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15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《福建省消防条例》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《广西壮族自治区实施（中华人民共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和国消防法）办法》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《新疆维吾尔自治区消防条例》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15"/>
              </a:lnSpc>
              <a:spcBef>
                <a:spcPts val="3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《浙江省消防条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例（2017 年修订）》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1855"/>
              </a:lnSpc>
              <a:spcBef>
                <a:spcPts val="33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 </a:t>
            </a:r>
            <a:r>
              <a:rPr sz="14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广东省实施《中华人民共和国消防法》办法（2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022修订）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539101" y="3215893"/>
            <a:ext cx="2976371" cy="179832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39101" y="1202690"/>
            <a:ext cx="2979420" cy="1775459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25396" y="3221989"/>
            <a:ext cx="2938271" cy="1789176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23873" y="1219454"/>
            <a:ext cx="2939795" cy="176022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85588" y="3218942"/>
            <a:ext cx="2827020" cy="1804415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85588" y="1219454"/>
            <a:ext cx="2831591" cy="1775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减员法规</a:t>
            </a:r>
            <a:endParaRPr lang="zh-CN" altLang="en-US"/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3984" y="1874520"/>
            <a:ext cx="5463540" cy="3745991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6326477" y="1796491"/>
            <a:ext cx="5412740" cy="3833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3230" algn="l" rtl="0" eaLnBrk="0">
              <a:lnSpc>
                <a:spcPts val="2375"/>
              </a:lnSpc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广东省实施《中华人民共和国消防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法》办法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7395" algn="l" rtl="0" eaLnBrk="0">
              <a:lnSpc>
                <a:spcPts val="2375"/>
              </a:lnSpc>
              <a:spcBef>
                <a:spcPts val="215"/>
              </a:spcBef>
            </a:pPr>
            <a:r>
              <a:rPr sz="17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（2022修订）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5285" algn="l" rtl="0" eaLnBrk="0">
              <a:lnSpc>
                <a:spcPct val="8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第十九条 设置火灾自动报警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系统和需要联动控制消防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ts val="2875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设备的建筑（群）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应当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设置消防控制室。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indent="346710" algn="l" rtl="0" eaLnBrk="0">
              <a:lnSpc>
                <a:spcPct val="143000"/>
              </a:lnSpc>
              <a:spcBef>
                <a:spcPts val="45"/>
              </a:spcBef>
            </a:pPr>
            <a:r>
              <a:rPr sz="1500" b="1" kern="0" spc="90" dirty="0">
                <a:solidFill>
                  <a:srgbClr val="0945A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消防控制室应当由其管理单位实行二十四小时值班制度，</a:t>
            </a:r>
            <a:r>
              <a:rPr sz="1500" b="1" kern="0" spc="90" dirty="0">
                <a:solidFill>
                  <a:srgbClr val="0945A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每班不少于</a:t>
            </a:r>
            <a:r>
              <a:rPr sz="2000" b="1" kern="0" spc="90" dirty="0">
                <a:solidFill>
                  <a:srgbClr val="0945A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两人</a:t>
            </a:r>
            <a:r>
              <a:rPr sz="1500" kern="0" spc="90" dirty="0">
                <a:solidFill>
                  <a:srgbClr val="0945A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kern="0" spc="-340" dirty="0">
                <a:solidFill>
                  <a:srgbClr val="0945A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能够通过城市</a:t>
            </a:r>
            <a:r>
              <a:rPr sz="15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消防远程监控系统实现远</a:t>
            </a:r>
            <a:r>
              <a:rPr sz="15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程操作消防控制室所有控制功能的</a:t>
            </a:r>
            <a:r>
              <a:rPr sz="1500" b="1" kern="0" spc="-2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，每班</a:t>
            </a:r>
            <a:r>
              <a:rPr sz="15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不少于</a:t>
            </a:r>
            <a:r>
              <a:rPr sz="20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50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防控制室值班操作人员应当依法取得相应等级的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消防行业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indent="-1270" algn="l" rtl="0" eaLnBrk="0">
              <a:lnSpc>
                <a:spcPct val="146000"/>
              </a:lnSpc>
              <a:spcBef>
                <a:spcPts val="11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特有工种职业资格证书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，熟练掌握火警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处置程序和要求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依法履行相关岗位职责。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altLang="en-US" spc="8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东莞红头文件</a:t>
            </a:r>
            <a:endParaRPr lang="zh-CN" altLang="en-US" spc="80" dirty="0">
              <a:solidFill>
                <a:srgbClr val="003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1"/>
          <a:srcRect t="4447" b="9942"/>
          <a:stretch>
            <a:fillRect/>
          </a:stretch>
        </p:blipFill>
        <p:spPr>
          <a:xfrm rot="21600000">
            <a:off x="0" y="1066800"/>
            <a:ext cx="121824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企业痛点分析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1447800"/>
            <a:ext cx="10805795" cy="4649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07975" algn="l" rtl="0" eaLnBrk="0">
              <a:lnSpc>
                <a:spcPct val="89000"/>
              </a:lnSpc>
              <a:spcBef>
                <a:spcPts val="700"/>
              </a:spcBef>
            </a:pP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全</a:t>
            </a:r>
            <a:r>
              <a:rPr sz="2300" kern="0" spc="-5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力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做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好</a:t>
            </a:r>
            <a:r>
              <a:rPr sz="2300" kern="0" spc="-6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消防</a:t>
            </a:r>
            <a:r>
              <a:rPr sz="2300" kern="0" spc="-5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sz="2300" kern="0" spc="-3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以</a:t>
            </a:r>
            <a:r>
              <a:rPr sz="2300" kern="0" spc="-5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防</a:t>
            </a:r>
            <a:r>
              <a:rPr sz="2300" kern="0" spc="-5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患</a:t>
            </a:r>
            <a:r>
              <a:rPr sz="23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切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未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知</a:t>
            </a:r>
            <a:r>
              <a:rPr sz="2300" kern="0" spc="-5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风</a:t>
            </a:r>
            <a:r>
              <a:rPr sz="2300" kern="0" spc="-5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险。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3690" algn="l" rtl="0" eaLnBrk="0">
              <a:lnSpc>
                <a:spcPct val="89000"/>
              </a:lnSpc>
              <a:spcBef>
                <a:spcPts val="700"/>
              </a:spcBef>
            </a:pP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</a:t>
            </a:r>
            <a:r>
              <a:rPr sz="2300" kern="0" spc="-4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sz="2300" kern="0" spc="-6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建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设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期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投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入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上</a:t>
            </a:r>
            <a:r>
              <a:rPr sz="2300" kern="0" spc="-6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千</a:t>
            </a:r>
            <a:r>
              <a:rPr sz="2300" kern="0" spc="-6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万</a:t>
            </a:r>
            <a:r>
              <a:rPr sz="23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打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造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整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套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消防</a:t>
            </a:r>
            <a:r>
              <a:rPr sz="2300" kern="0" spc="-5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系统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95275" algn="l" rtl="0" eaLnBrk="0">
              <a:lnSpc>
                <a:spcPct val="89000"/>
              </a:lnSpc>
              <a:spcBef>
                <a:spcPts val="425"/>
              </a:spcBef>
            </a:pP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</a:t>
            </a:r>
            <a:r>
              <a:rPr sz="2300" kern="0" spc="-5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sz="2300" kern="0" spc="-5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通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过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行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政</a:t>
            </a:r>
            <a:r>
              <a:rPr sz="2300" kern="0" spc="-6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主</a:t>
            </a:r>
            <a:r>
              <a:rPr sz="2300" kern="0" spc="-5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管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单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位</a:t>
            </a:r>
            <a:r>
              <a:rPr sz="23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严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格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验</a:t>
            </a:r>
            <a:r>
              <a:rPr sz="2300" kern="0" spc="-5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收</a:t>
            </a:r>
            <a:r>
              <a:rPr sz="2300" kern="0" spc="-6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sz="2300" kern="0" spc="-6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检</a:t>
            </a:r>
            <a:r>
              <a:rPr sz="2300" kern="0" spc="-6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查</a:t>
            </a:r>
            <a:r>
              <a:rPr sz="2300" kern="0" spc="-8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97815" algn="l" rtl="0" eaLnBrk="0">
              <a:lnSpc>
                <a:spcPct val="89000"/>
              </a:lnSpc>
              <a:spcBef>
                <a:spcPts val="425"/>
              </a:spcBef>
            </a:pP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</a:t>
            </a:r>
            <a:r>
              <a:rPr sz="2300" kern="0" spc="-5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sz="23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每</a:t>
            </a:r>
            <a:r>
              <a:rPr sz="23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年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投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入</a:t>
            </a:r>
            <a:r>
              <a:rPr sz="2300" kern="0" spc="-6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消防</a:t>
            </a:r>
            <a:r>
              <a:rPr sz="23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系</a:t>
            </a:r>
            <a:r>
              <a:rPr sz="2300" b="1" kern="0" spc="-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统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维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护</a:t>
            </a:r>
            <a:r>
              <a:rPr sz="2300" kern="0" spc="-6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保</a:t>
            </a:r>
            <a:r>
              <a:rPr sz="2300" kern="0" spc="-6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-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养</a:t>
            </a:r>
            <a:r>
              <a:rPr sz="2300" b="1" kern="0" spc="-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302895" indent="-12700" algn="l" rtl="0" eaLnBrk="0">
              <a:lnSpc>
                <a:spcPct val="97000"/>
              </a:lnSpc>
              <a:spcBef>
                <a:spcPts val="405"/>
              </a:spcBef>
            </a:pP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</a:t>
            </a:r>
            <a:r>
              <a:rPr sz="2300" kern="0" spc="-5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sz="2300" kern="0" spc="-5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控</a:t>
            </a:r>
            <a:r>
              <a:rPr sz="2300" kern="0" spc="-5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室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须</a:t>
            </a:r>
            <a:r>
              <a:rPr sz="2300" kern="0" spc="-6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配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置</a:t>
            </a:r>
            <a:r>
              <a:rPr sz="2300" kern="0" spc="-6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班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倒</a:t>
            </a:r>
            <a:r>
              <a:rPr sz="2300" kern="0" spc="-6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至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少6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名持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证</a:t>
            </a:r>
            <a:r>
              <a:rPr sz="23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人</a:t>
            </a:r>
            <a:r>
              <a:rPr sz="2300" kern="0" spc="-4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员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7*24</a:t>
            </a:r>
            <a:r>
              <a:rPr sz="2300" kern="0" spc="-6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小时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值</a:t>
            </a:r>
            <a:r>
              <a:rPr sz="23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班（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年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投</a:t>
            </a:r>
            <a:r>
              <a:rPr sz="2300" kern="0" spc="-6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入</a:t>
            </a:r>
            <a:r>
              <a:rPr sz="23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人</a:t>
            </a:r>
            <a:r>
              <a:rPr sz="2300" kern="0" spc="-6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力成</a:t>
            </a:r>
            <a:r>
              <a:rPr sz="2300" kern="0" spc="-6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本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约60万</a:t>
            </a:r>
            <a:r>
              <a:rPr sz="2300" kern="0" spc="-4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1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）。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9090" algn="l" rtl="0" eaLnBrk="0">
              <a:lnSpc>
                <a:spcPct val="86000"/>
              </a:lnSpc>
              <a:spcBef>
                <a:spcPts val="875"/>
              </a:spcBef>
              <a:tabLst>
                <a:tab pos="5422900" algn="l"/>
              </a:tabLst>
            </a:pPr>
            <a:r>
              <a:rPr sz="2900" b="1" i="1" u="sng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投入大，</a:t>
            </a:r>
            <a:r>
              <a:rPr sz="2900" u="sng" kern="0" spc="-7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900" b="1" i="1" u="sng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但传统防控</a:t>
            </a:r>
            <a:r>
              <a:rPr sz="2900" b="1" i="1" u="sng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保障低。</a:t>
            </a:r>
            <a:r>
              <a:rPr sz="2900" u="sng" kern="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	</a:t>
            </a:r>
            <a:endParaRPr sz="29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500" algn="l" rtl="0" eaLnBrk="0">
              <a:lnSpc>
                <a:spcPct val="89000"/>
              </a:lnSpc>
              <a:spcBef>
                <a:spcPts val="5"/>
              </a:spcBef>
            </a:pPr>
            <a:r>
              <a:rPr sz="2300" b="1" kern="0" spc="2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管理方与监管方在博弈中</a:t>
            </a:r>
            <a:r>
              <a:rPr sz="2300" kern="0" spc="-5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sz="2300" kern="0" spc="-6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应</a:t>
            </a:r>
            <a:r>
              <a:rPr sz="2300" b="1" kern="0" spc="2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改掉</a:t>
            </a:r>
            <a:r>
              <a:rPr sz="2300" kern="0" spc="-7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“</a:t>
            </a:r>
            <a:r>
              <a:rPr sz="2300" kern="0" spc="-6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消防重要但不紧急</a:t>
            </a:r>
            <a:r>
              <a:rPr sz="2300" kern="0" spc="-5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”</a:t>
            </a:r>
            <a:r>
              <a:rPr sz="2300" kern="0" spc="-7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的侥幸心理！</a:t>
            </a:r>
            <a:endParaRPr lang="zh-CN" altLang="en-US" sz="2300" b="1" kern="0" spc="270" dirty="0">
              <a:solidFill>
                <a:srgbClr val="FF0000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企业痛点分析</a:t>
            </a:r>
            <a:endParaRPr lang="zh-CN" altLang="en-US"/>
          </a:p>
        </p:txBody>
      </p:sp>
      <p:sp>
        <p:nvSpPr>
          <p:cNvPr id="210" name="textbox 210"/>
          <p:cNvSpPr/>
          <p:nvPr/>
        </p:nvSpPr>
        <p:spPr>
          <a:xfrm>
            <a:off x="381234" y="1448040"/>
            <a:ext cx="11546840" cy="4921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2895" algn="l" rtl="0" eaLnBrk="0">
              <a:lnSpc>
                <a:spcPct val="89000"/>
              </a:lnSpc>
              <a:spcBef>
                <a:spcPts val="695"/>
              </a:spcBef>
            </a:pPr>
            <a:r>
              <a:rPr sz="2300" b="1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责</a:t>
            </a:r>
            <a:r>
              <a:rPr sz="2300" kern="0" spc="-6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任</a:t>
            </a:r>
            <a:r>
              <a:rPr sz="23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人（经</a:t>
            </a:r>
            <a:r>
              <a:rPr sz="2300" kern="0" spc="-6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营</a:t>
            </a:r>
            <a:r>
              <a:rPr sz="2300" kern="0" spc="-6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者</a:t>
            </a:r>
            <a:r>
              <a:rPr sz="2300" b="1" kern="0" spc="-1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sz="2300" kern="0" spc="-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1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sz="2300" kern="0" spc="-5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</a:t>
            </a:r>
            <a:r>
              <a:rPr sz="2000" kern="0" spc="-4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</a:t>
            </a:r>
            <a:r>
              <a:rPr sz="2000" kern="0" spc="-5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安</a:t>
            </a:r>
            <a:r>
              <a:rPr sz="2000" kern="0" spc="-51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全</a:t>
            </a:r>
            <a:r>
              <a:rPr sz="2000" kern="0" spc="-4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</a:t>
            </a:r>
            <a:r>
              <a:rPr sz="2000" kern="0" spc="-5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理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第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</a:t>
            </a:r>
            <a:r>
              <a:rPr sz="2000" kern="0" spc="-5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责</a:t>
            </a:r>
            <a:r>
              <a:rPr sz="2000" kern="0" spc="-5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任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</a:t>
            </a:r>
            <a:r>
              <a:rPr sz="2000" kern="0" spc="-5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般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为企</a:t>
            </a:r>
            <a:r>
              <a:rPr sz="2000" kern="0" spc="-5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业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</a:t>
            </a:r>
            <a:r>
              <a:rPr sz="2000" kern="0" spc="-5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把</a:t>
            </a:r>
            <a:r>
              <a:rPr sz="2000" kern="0" spc="-5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手。</a:t>
            </a:r>
            <a:endParaRPr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99085" algn="l" rtl="0" eaLnBrk="0">
              <a:lnSpc>
                <a:spcPct val="89000"/>
              </a:lnSpc>
              <a:spcBef>
                <a:spcPts val="425"/>
              </a:spcBef>
            </a:pP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执</a:t>
            </a:r>
            <a:r>
              <a:rPr sz="2300" kern="0" spc="-6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行</a:t>
            </a:r>
            <a:r>
              <a:rPr sz="23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人（</a:t>
            </a:r>
            <a:r>
              <a:rPr sz="2300" kern="0" spc="-2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最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</a:t>
            </a:r>
            <a:r>
              <a:rPr sz="2300" kern="0" spc="-6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层</a:t>
            </a:r>
            <a:r>
              <a:rPr sz="2300" kern="0" spc="-4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sz="2300" kern="0" spc="-4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sz="2300" kern="0" spc="-5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</a:t>
            </a:r>
            <a:r>
              <a:rPr sz="2000" kern="0" spc="-5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控</a:t>
            </a:r>
            <a:r>
              <a:rPr sz="2000" kern="0" spc="-4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室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单</a:t>
            </a:r>
            <a:r>
              <a:rPr sz="2000" u="sng" kern="0" spc="-3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岗2</a:t>
            </a:r>
            <a:r>
              <a:rPr sz="2000" u="sng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000" u="sng" kern="0" spc="-5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值</a:t>
            </a:r>
            <a:r>
              <a:rPr sz="2000" u="sng" kern="0" spc="-5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班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sz="2000" kern="0" spc="-5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消防</a:t>
            </a:r>
            <a:r>
              <a:rPr sz="2000" kern="0" spc="-5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维</a:t>
            </a:r>
            <a:r>
              <a:rPr sz="2000" kern="0" spc="-5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保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每</a:t>
            </a:r>
            <a:r>
              <a:rPr sz="2000" u="sng" kern="0" spc="-4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月1</a:t>
            </a:r>
            <a:r>
              <a:rPr sz="2000" u="sng" kern="0" spc="-5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次</a:t>
            </a:r>
            <a:r>
              <a:rPr sz="2000" u="sng" kern="0" spc="-4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sz="2000" u="sng" kern="0" spc="-5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</a:t>
            </a:r>
            <a:r>
              <a:rPr sz="2000" u="sng" kern="0" spc="-5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000" b="1" u="sng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查</a:t>
            </a:r>
            <a:r>
              <a:rPr sz="2000" b="1" kern="0" spc="-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algn="l" rtl="0" eaLnBrk="0">
              <a:lnSpc>
                <a:spcPct val="88000"/>
              </a:lnSpc>
              <a:spcBef>
                <a:spcPts val="815"/>
              </a:spcBef>
            </a:pP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这</a:t>
            </a:r>
            <a:r>
              <a:rPr sz="2300" kern="0" spc="-6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种</a:t>
            </a:r>
            <a:r>
              <a:rPr sz="2300" kern="0" spc="-6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7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700" kern="0" spc="-8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7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力预</a:t>
            </a:r>
            <a:r>
              <a:rPr sz="27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700" b="1" kern="0" spc="-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某</a:t>
            </a:r>
            <a:r>
              <a:rPr sz="23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些</a:t>
            </a:r>
            <a:r>
              <a:rPr sz="2300" kern="0" spc="-6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突</a:t>
            </a:r>
            <a:r>
              <a:rPr sz="2300" kern="0" spc="-6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发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事</a:t>
            </a:r>
            <a:r>
              <a:rPr sz="2300" kern="0" spc="-6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故</a:t>
            </a:r>
            <a:r>
              <a:rPr sz="2300" kern="0" spc="-3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</a:t>
            </a:r>
            <a:r>
              <a:rPr sz="2300" kern="0" spc="-3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已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令</a:t>
            </a:r>
            <a:r>
              <a:rPr sz="23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人胆</a:t>
            </a:r>
            <a:r>
              <a:rPr sz="2300" kern="0" spc="-6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战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心</a:t>
            </a:r>
            <a:r>
              <a:rPr sz="2300" kern="0" spc="-6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惊……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0" indent="8890" algn="l" rtl="0" eaLnBrk="0">
              <a:lnSpc>
                <a:spcPct val="97000"/>
              </a:lnSpc>
              <a:spcBef>
                <a:spcPts val="5"/>
              </a:spcBef>
            </a:pPr>
            <a:r>
              <a:rPr sz="2300" b="1" kern="0" spc="-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随</a:t>
            </a:r>
            <a:r>
              <a:rPr sz="2300" kern="0" spc="-6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着</a:t>
            </a:r>
            <a:r>
              <a:rPr sz="23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300" kern="0" spc="-62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工</a:t>
            </a:r>
            <a:r>
              <a:rPr sz="2300" kern="0" spc="-6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</a:t>
            </a:r>
            <a:r>
              <a:rPr sz="2300" kern="0" spc="-69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和5G</a:t>
            </a:r>
            <a:r>
              <a:rPr sz="2300" kern="0" spc="-6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技</a:t>
            </a:r>
            <a:r>
              <a:rPr sz="2300" kern="0" spc="-6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术</a:t>
            </a:r>
            <a:r>
              <a:rPr sz="2300" kern="0" spc="-6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领</a:t>
            </a:r>
            <a:r>
              <a:rPr sz="2300" kern="0" spc="-69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域</a:t>
            </a:r>
            <a:r>
              <a:rPr sz="2300" kern="0" spc="-54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sz="2300" kern="0" spc="-66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</a:t>
            </a:r>
            <a:r>
              <a:rPr sz="2300" kern="0" spc="-69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速</a:t>
            </a:r>
            <a:r>
              <a:rPr sz="2300" kern="0" spc="-51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-30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已</a:t>
            </a:r>
            <a:r>
              <a:rPr sz="2300" kern="0" spc="-63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全</a:t>
            </a:r>
            <a:r>
              <a:rPr sz="2300" kern="0" spc="-63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面</a:t>
            </a:r>
            <a:r>
              <a:rPr sz="2300" kern="0" spc="-55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7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改</a:t>
            </a:r>
            <a:r>
              <a:rPr sz="2300" kern="0" spc="-62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写</a:t>
            </a:r>
            <a:r>
              <a:rPr sz="2300" kern="0" spc="-65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传</a:t>
            </a:r>
            <a:r>
              <a:rPr sz="2300" kern="0" spc="-63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统</a:t>
            </a:r>
            <a:r>
              <a:rPr sz="2300" kern="0" spc="-63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消防</a:t>
            </a:r>
            <a:r>
              <a:rPr sz="2300" kern="0" spc="-55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</a:t>
            </a:r>
            <a:r>
              <a:rPr sz="2300" kern="0" spc="-66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理</a:t>
            </a:r>
            <a:r>
              <a:rPr sz="2300" kern="0" spc="-69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</a:t>
            </a:r>
            <a:r>
              <a:rPr sz="2300" kern="0" spc="-62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式</a:t>
            </a:r>
            <a:r>
              <a:rPr sz="2300" kern="0" spc="-51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-560" dirty="0">
                <a:solidFill>
                  <a:srgbClr val="0F1423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</a:t>
            </a:r>
            <a:r>
              <a:rPr sz="2300" kern="0" spc="-6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-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现</a:t>
            </a:r>
            <a:r>
              <a:rPr sz="2300" b="1" kern="0" spc="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人防</a:t>
            </a:r>
            <a:r>
              <a:rPr sz="2300" kern="0" spc="-5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sz="2300" kern="0" spc="-6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智防的全面融合</a:t>
            </a:r>
            <a:r>
              <a:rPr sz="2300" kern="0" spc="-5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-6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kern="0" spc="2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数字化助力企业</a:t>
            </a:r>
            <a:r>
              <a:rPr sz="2300" b="1" kern="0" spc="2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高效管理!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altLang="en-US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未来趋势</a:t>
            </a:r>
            <a:endParaRPr lang="zh-CN" altLang="en-US" dirty="0">
              <a:solidFill>
                <a:srgbClr val="003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457200" y="1371600"/>
            <a:ext cx="1154684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774065" algn="l" rtl="0" eaLnBrk="0">
              <a:lnSpc>
                <a:spcPct val="89000"/>
              </a:lnSpc>
              <a:spcBef>
                <a:spcPts val="725"/>
              </a:spcBef>
            </a:pP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</a:t>
            </a:r>
            <a:r>
              <a:rPr sz="2100" kern="0" spc="-4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慧</a:t>
            </a:r>
            <a:r>
              <a:rPr sz="21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</a:t>
            </a:r>
            <a:r>
              <a:rPr sz="2100" kern="0" spc="-4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</a:t>
            </a:r>
            <a:r>
              <a:rPr sz="2100" kern="0" spc="-6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—</a:t>
            </a:r>
            <a:r>
              <a:rPr sz="2100" kern="0" spc="-6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—</a:t>
            </a:r>
            <a:r>
              <a:rPr sz="2100" kern="0" spc="-5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城</a:t>
            </a:r>
            <a:r>
              <a:rPr sz="21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市</a:t>
            </a:r>
            <a:r>
              <a:rPr sz="21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消防</a:t>
            </a:r>
            <a:r>
              <a:rPr sz="2100" kern="0" spc="-5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远</a:t>
            </a:r>
            <a:r>
              <a:rPr sz="2100" kern="0" spc="-5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程</a:t>
            </a:r>
            <a:r>
              <a:rPr sz="2100" kern="0" spc="-6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sz="2400" kern="0" spc="-6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监+</a:t>
            </a:r>
            <a:r>
              <a:rPr sz="2400" kern="0" spc="-7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控</a:t>
            </a:r>
            <a:r>
              <a:rPr sz="2400" kern="0" spc="-5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</a:t>
            </a:r>
            <a:r>
              <a:rPr sz="2400" kern="0" spc="-8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</a:t>
            </a:r>
            <a:r>
              <a:rPr sz="2100" kern="0" spc="-5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理</a:t>
            </a:r>
            <a:r>
              <a:rPr sz="2100" kern="0" spc="-5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2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系统！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9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81050" algn="l" rtl="0" eaLnBrk="0">
              <a:lnSpc>
                <a:spcPct val="89000"/>
              </a:lnSpc>
              <a:spcBef>
                <a:spcPts val="5"/>
              </a:spcBef>
            </a:pP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</a:t>
            </a:r>
            <a:r>
              <a:rPr sz="2100" kern="0" spc="-4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</a:t>
            </a:r>
            <a:r>
              <a:rPr sz="21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领</a:t>
            </a:r>
            <a:r>
              <a:rPr sz="2100" kern="0" spc="-6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域</a:t>
            </a:r>
            <a:r>
              <a:rPr sz="2100" kern="0" spc="-5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1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工</a:t>
            </a:r>
            <a:r>
              <a:rPr sz="21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</a:t>
            </a:r>
            <a:r>
              <a:rPr sz="2100" kern="0" spc="-4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sz="21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红</a:t>
            </a:r>
            <a:r>
              <a:rPr sz="21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利</a:t>
            </a:r>
            <a:r>
              <a:rPr sz="2100" kern="0" spc="-31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已</a:t>
            </a:r>
            <a:r>
              <a:rPr sz="2100" kern="0" spc="-5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来</a:t>
            </a:r>
            <a:r>
              <a:rPr sz="2100" kern="0" spc="-4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100" kern="0" spc="-53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让</a:t>
            </a:r>
            <a:r>
              <a:rPr sz="2100" kern="0" spc="-5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科</a:t>
            </a:r>
            <a:r>
              <a:rPr sz="2100" kern="0" spc="-5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100" b="1" kern="0" spc="-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技</a:t>
            </a:r>
            <a:r>
              <a:rPr sz="2100" kern="0" spc="-5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赋</a:t>
            </a:r>
            <a:r>
              <a:rPr sz="2400" kern="0" spc="-5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</a:t>
            </a:r>
            <a:r>
              <a:rPr sz="2400" kern="0" spc="-6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6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消防</a:t>
            </a:r>
            <a:r>
              <a:rPr sz="2400" kern="0" spc="-54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400" kern="0" spc="-5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降</a:t>
            </a:r>
            <a:r>
              <a:rPr sz="2400" kern="0" spc="-7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本增</a:t>
            </a:r>
            <a:r>
              <a:rPr sz="2400" kern="0" spc="-6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效。</a:t>
            </a:r>
            <a:endParaRPr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96711" y="2968752"/>
            <a:ext cx="4538471" cy="3185159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7176" y="3003804"/>
            <a:ext cx="4283963" cy="3177539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6859740" y="6273272"/>
            <a:ext cx="205358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单岗单人值班合法合规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2245075" y="6272867"/>
            <a:ext cx="164909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数字可视化值守屏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总体建设方案：</a:t>
            </a:r>
            <a:r>
              <a:rPr spc="-55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endParaRPr lang="zh-CN" altLang="en-US" spc="-55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1066800"/>
            <a:ext cx="11123930" cy="5638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88000"/>
              </a:lnSpc>
              <a:spcBef>
                <a:spcPts val="5"/>
              </a:spcBef>
            </a:pPr>
            <a:endParaRPr sz="2700" b="1" kern="0" spc="7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0">
              <a:lnSpc>
                <a:spcPct val="88000"/>
              </a:lnSpc>
              <a:spcBef>
                <a:spcPts val="5"/>
              </a:spcBef>
            </a:pPr>
            <a:r>
              <a:rPr lang="en-US"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	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引入智慧消防</a:t>
            </a:r>
            <a:r>
              <a:rPr sz="2700" b="1" kern="0" spc="-4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2700" b="1" kern="0" spc="-6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赋能项目消防系统高效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2305" algn="l" rtl="0" eaLnBrk="0">
              <a:lnSpc>
                <a:spcPct val="89000"/>
              </a:lnSpc>
              <a:spcBef>
                <a:spcPts val="63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1.</a:t>
            </a:r>
            <a:r>
              <a:rPr sz="2100" kern="0" spc="50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建设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值守屏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，化繁为简，一张图高效解决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值班人员操作不熟练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问题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5160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2.</a:t>
            </a:r>
            <a:r>
              <a:rPr sz="2100" kern="0" spc="56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系统实现消防设施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健康状况实时</a:t>
            </a:r>
            <a:r>
              <a:rPr sz="21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监测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及</a:t>
            </a:r>
            <a:r>
              <a:rPr sz="21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告警处理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7065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3.</a:t>
            </a:r>
            <a:r>
              <a:rPr sz="2100" kern="0" spc="56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系统建设消防设施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远程反向操控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掌控灭火黄金期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0715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4.</a:t>
            </a:r>
            <a:r>
              <a:rPr sz="2100" kern="0" spc="53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实现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安消一体联动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，高效管控（非标配，增加额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外成本）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7065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5.</a:t>
            </a:r>
            <a:r>
              <a:rPr sz="2100" kern="0" spc="54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后台</a:t>
            </a:r>
            <a:r>
              <a:rPr sz="21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数据中心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，赋能系统高效管控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3890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6.</a:t>
            </a:r>
            <a:r>
              <a:rPr sz="2100" kern="0" spc="4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建设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移动端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，责任领导随时随地一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手掌控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648335" algn="l" rtl="0" eaLnBrk="0">
              <a:lnSpc>
                <a:spcPct val="89000"/>
              </a:lnSpc>
              <a:spcBef>
                <a:spcPts val="1715"/>
              </a:spcBef>
            </a:pP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7.</a:t>
            </a:r>
            <a:r>
              <a:rPr sz="2100" kern="0" spc="53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sz="2100" b="1" kern="0" spc="8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城市级消防运营监控管理中心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7*24小时远</a:t>
            </a:r>
            <a:r>
              <a:rPr sz="21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程值守</a:t>
            </a:r>
            <a:r>
              <a:rPr sz="2100" b="1" kern="0" spc="70" dirty="0">
                <a:solidFill>
                  <a:srgbClr val="40404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服务，多重保障</a:t>
            </a:r>
            <a:endParaRPr sz="21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5005" algn="l" rtl="0" eaLnBrk="0">
              <a:lnSpc>
                <a:spcPct val="87000"/>
              </a:lnSpc>
              <a:spcBef>
                <a:spcPts val="0"/>
              </a:spcBef>
            </a:pPr>
            <a:r>
              <a:rPr sz="3200" b="1" kern="0" spc="-30" dirty="0">
                <a:solidFill>
                  <a:srgbClr val="1E69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多维</a:t>
            </a:r>
            <a:r>
              <a:rPr sz="3200" b="1" kern="0" spc="-30" dirty="0">
                <a:solidFill>
                  <a:srgbClr val="1E69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监控室</a:t>
            </a:r>
            <a:r>
              <a:rPr sz="3200" b="1" kern="0" spc="-490" dirty="0">
                <a:solidFill>
                  <a:srgbClr val="1E69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3200" b="1" kern="0" spc="-30" dirty="0">
                <a:solidFill>
                  <a:srgbClr val="1E69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，科技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筑牢</a:t>
            </a:r>
            <a:r>
              <a:rPr sz="3200" b="1" kern="0" spc="-30" dirty="0">
                <a:solidFill>
                  <a:srgbClr val="1E69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安全防线</a:t>
            </a:r>
            <a:endParaRPr lang="zh-CN" altLang="en-US" sz="3200" b="1" kern="0" spc="-30" dirty="0">
              <a:solidFill>
                <a:srgbClr val="1E69D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平台简介</a:t>
            </a: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814705" y="1137285"/>
            <a:ext cx="10497185" cy="5596255"/>
            <a:chOff x="1283" y="1791"/>
            <a:chExt cx="16531" cy="8813"/>
          </a:xfrm>
        </p:grpSpPr>
        <p:sp>
          <p:nvSpPr>
            <p:cNvPr id="246" name="textbox 246"/>
            <p:cNvSpPr/>
            <p:nvPr/>
          </p:nvSpPr>
          <p:spPr>
            <a:xfrm>
              <a:off x="1418" y="1791"/>
              <a:ext cx="16397" cy="2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19760" algn="l" rtl="0" eaLnBrk="0">
                <a:lnSpc>
                  <a:spcPct val="89000"/>
                </a:lnSpc>
              </a:pP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基于传统消防产品、消防工程经验及消防系统应用，整合人工智能物联网</a:t>
              </a:r>
              <a:endParaRPr sz="23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  <a:p>
              <a:pPr algn="r" rtl="0" eaLnBrk="0">
                <a:lnSpc>
                  <a:spcPct val="89000"/>
                </a:lnSpc>
                <a:spcBef>
                  <a:spcPts val="1865"/>
                </a:spcBef>
              </a:pP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（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AIoT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）、云技术、大数据、5G传输等先进技术，</a:t>
              </a:r>
              <a:r>
                <a:rPr sz="2300" b="1" kern="0" spc="60" dirty="0">
                  <a:solidFill>
                    <a:srgbClr val="FF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建设运营城市</a:t>
              </a:r>
              <a:r>
                <a:rPr sz="2300" b="1" kern="0" spc="50" dirty="0">
                  <a:solidFill>
                    <a:srgbClr val="FF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级智慧消防远</a:t>
              </a:r>
              <a:endParaRPr sz="23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</a:pPr>
              <a:r>
                <a:rPr sz="2300" b="1" kern="0" spc="90" dirty="0">
                  <a:solidFill>
                    <a:srgbClr val="FF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程监控系统，为具备多品牌远程监测、预警与系统反控的运营服务平台。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平台</a:t>
              </a:r>
              <a:endParaRPr sz="23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pic>
          <p:nvPicPr>
            <p:cNvPr id="248" name="picture 24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1283" y="5692"/>
              <a:ext cx="6768" cy="3168"/>
            </a:xfrm>
            <a:prstGeom prst="rect">
              <a:avLst/>
            </a:prstGeom>
          </p:spPr>
        </p:pic>
        <p:sp>
          <p:nvSpPr>
            <p:cNvPr id="250" name="textbox 250"/>
            <p:cNvSpPr/>
            <p:nvPr/>
          </p:nvSpPr>
          <p:spPr>
            <a:xfrm>
              <a:off x="1427" y="4383"/>
              <a:ext cx="15349" cy="532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9000"/>
                </a:lnSpc>
              </a:pPr>
              <a:r>
                <a:rPr sz="2300" b="1" kern="0" spc="40" dirty="0">
                  <a:solidFill>
                    <a:srgbClr val="000000">
                      <a:alpha val="100000"/>
                    </a:srgbClr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主要包含可视化值守屏、远程运维大屏、后台数据中心、移动应用端等。</a:t>
              </a:r>
              <a:endParaRPr sz="23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sp>
          <p:nvSpPr>
            <p:cNvPr id="252" name="textbox 252"/>
            <p:cNvSpPr/>
            <p:nvPr/>
          </p:nvSpPr>
          <p:spPr>
            <a:xfrm>
              <a:off x="11311" y="6148"/>
              <a:ext cx="4989" cy="12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9060" algn="l" rtl="0" eaLnBrk="0">
                <a:lnSpc>
                  <a:spcPct val="87000"/>
                </a:lnSpc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主机获取的各类用户报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98425" algn="l" rtl="0" eaLnBrk="0">
                <a:lnSpc>
                  <a:spcPct val="87000"/>
                </a:lnSpc>
                <a:spcBef>
                  <a:spcPts val="195"/>
                </a:spcBef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警信息和设备状态信息，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98425" algn="l" rtl="0" eaLnBrk="0">
                <a:lnSpc>
                  <a:spcPct val="87000"/>
                </a:lnSpc>
                <a:spcBef>
                  <a:spcPts val="180"/>
                </a:spcBef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并下达控制指令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861185" algn="l" rtl="0" eaLnBrk="0">
                <a:lnSpc>
                  <a:spcPct val="88000"/>
                </a:lnSpc>
                <a:spcBef>
                  <a:spcPts val="50"/>
                </a:spcBef>
                <a:tabLst>
                  <a:tab pos="1940560" algn="l"/>
                </a:tabLst>
              </a:pP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智慧消防平台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54" name="picture 2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1331" y="7210"/>
              <a:ext cx="2912" cy="120"/>
            </a:xfrm>
            <a:prstGeom prst="rect">
              <a:avLst/>
            </a:prstGeom>
          </p:spPr>
        </p:pic>
        <p:pic>
          <p:nvPicPr>
            <p:cNvPr id="256" name="picture 2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3874" y="4881"/>
              <a:ext cx="3106" cy="1872"/>
            </a:xfrm>
            <a:prstGeom prst="rect">
              <a:avLst/>
            </a:prstGeom>
          </p:spPr>
        </p:pic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9866" y="5756"/>
              <a:ext cx="1445" cy="1830"/>
            </a:xfrm>
            <a:prstGeom prst="rect">
              <a:avLst/>
            </a:prstGeom>
          </p:spPr>
        </p:pic>
        <p:pic>
          <p:nvPicPr>
            <p:cNvPr id="260" name="picture 2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3394" y="8849"/>
              <a:ext cx="2194" cy="1115"/>
            </a:xfrm>
            <a:prstGeom prst="rect">
              <a:avLst/>
            </a:prstGeom>
          </p:spPr>
        </p:pic>
        <p:pic>
          <p:nvPicPr>
            <p:cNvPr id="262" name="picture 2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6807" y="8818"/>
              <a:ext cx="890" cy="1423"/>
            </a:xfrm>
            <a:prstGeom prst="rect">
              <a:avLst/>
            </a:prstGeom>
          </p:spPr>
        </p:pic>
        <p:sp>
          <p:nvSpPr>
            <p:cNvPr id="268" name="textbox 268"/>
            <p:cNvSpPr/>
            <p:nvPr/>
          </p:nvSpPr>
          <p:spPr>
            <a:xfrm>
              <a:off x="3874" y="9378"/>
              <a:ext cx="3056" cy="356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传统消防系统-消控室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0" name="textbox 270"/>
            <p:cNvSpPr/>
            <p:nvPr/>
          </p:nvSpPr>
          <p:spPr>
            <a:xfrm>
              <a:off x="8696" y="6153"/>
              <a:ext cx="491" cy="132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40" algn="l" rtl="0" eaLnBrk="0">
                <a:lnSpc>
                  <a:spcPct val="80000"/>
                </a:lnSpc>
              </a:pPr>
              <a:r>
                <a:rPr sz="9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CAN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0955" algn="l" rtl="0" eaLnBrk="0">
                <a:lnSpc>
                  <a:spcPct val="80000"/>
                </a:lnSpc>
                <a:spcBef>
                  <a:spcPts val="955"/>
                </a:spcBef>
              </a:pP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口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145" algn="l" rtl="0" eaLnBrk="0">
                <a:lnSpc>
                  <a:spcPts val="1310"/>
                </a:lnSpc>
                <a:spcBef>
                  <a:spcPts val="645"/>
                </a:spcBef>
              </a:pPr>
              <a:r>
                <a:rPr sz="900" b="1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232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10"/>
                </a:lnSpc>
                <a:spcBef>
                  <a:spcPts val="5"/>
                </a:spcBef>
              </a:pPr>
              <a:r>
                <a:rPr sz="9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485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72" name="picture 27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2569" y="7229"/>
              <a:ext cx="7280" cy="120"/>
            </a:xfrm>
            <a:prstGeom prst="rect">
              <a:avLst/>
            </a:prstGeom>
          </p:spPr>
        </p:pic>
        <p:sp>
          <p:nvSpPr>
            <p:cNvPr id="274" name="textbox 274"/>
            <p:cNvSpPr/>
            <p:nvPr/>
          </p:nvSpPr>
          <p:spPr>
            <a:xfrm>
              <a:off x="9434" y="8030"/>
              <a:ext cx="2275" cy="35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消防采集控制器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76" name="picture 27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6428" y="7263"/>
              <a:ext cx="408" cy="1468"/>
            </a:xfrm>
            <a:prstGeom prst="rect">
              <a:avLst/>
            </a:prstGeom>
          </p:spPr>
        </p:pic>
        <p:sp>
          <p:nvSpPr>
            <p:cNvPr id="278" name="textbox 278"/>
            <p:cNvSpPr/>
            <p:nvPr/>
          </p:nvSpPr>
          <p:spPr>
            <a:xfrm>
              <a:off x="13970" y="10144"/>
              <a:ext cx="1185" cy="461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2105"/>
                </a:lnSpc>
              </a:pP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Web</a:t>
              </a:r>
              <a:r>
                <a:rPr sz="1500" b="1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端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80" name="picture 28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4504" y="7518"/>
              <a:ext cx="16" cy="1110"/>
            </a:xfrm>
            <a:prstGeom prst="rect">
              <a:avLst/>
            </a:prstGeom>
          </p:spPr>
        </p:pic>
        <p:pic>
          <p:nvPicPr>
            <p:cNvPr id="282" name="picture 28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4452" y="8669"/>
              <a:ext cx="120" cy="1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20040"/>
            <a:ext cx="9432289" cy="430530"/>
          </a:xfrm>
        </p:spPr>
        <p:txBody>
          <a:bodyPr/>
          <a:p>
            <a:r>
              <a:rPr lang="zh-CN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低成本建设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：</a:t>
            </a:r>
            <a:r>
              <a:rPr spc="-6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不改变原有消防系统</a:t>
            </a:r>
            <a:r>
              <a:rPr spc="-44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6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直接升级智慧消防</a:t>
            </a:r>
            <a:endParaRPr lang="zh-CN" altLang="en-US" spc="7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10441826" y="4140568"/>
            <a:ext cx="47751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风机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946332" y="1171447"/>
            <a:ext cx="7206043" cy="3946144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6686232" y="2136165"/>
            <a:ext cx="5301615" cy="225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烟感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燃气        手报 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消火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声光        层显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335530" algn="l" rtl="0" eaLnBrk="0">
              <a:lnSpc>
                <a:spcPct val="87000"/>
              </a:lnSpc>
              <a:spcBef>
                <a:spcPts val="1420"/>
              </a:spcBef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火灾自动报警系统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245" algn="l" rtl="0" eaLnBrk="0">
              <a:lnSpc>
                <a:spcPct val="87000"/>
              </a:lnSpc>
              <a:spcBef>
                <a:spcPts val="520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烟感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燃气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手报    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消火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声光        层显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88565" algn="l" rtl="0" eaLnBrk="0">
              <a:lnSpc>
                <a:spcPct val="87000"/>
              </a:lnSpc>
              <a:spcBef>
                <a:spcPts val="0"/>
              </a:spcBef>
            </a:pPr>
            <a:r>
              <a:rPr sz="2000" kern="0" spc="-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防排烟系统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185864" y="3603625"/>
          <a:ext cx="3987800" cy="1945005"/>
        </p:xfrm>
        <a:graphic>
          <a:graphicData uri="http://schemas.openxmlformats.org/drawingml/2006/table">
            <a:tbl>
              <a:tblPr/>
              <a:tblGrid>
                <a:gridCol w="3987800"/>
              </a:tblGrid>
              <a:tr h="17437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1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27783" y="3406775"/>
            <a:ext cx="28575" cy="229869"/>
          </a:xfrm>
          <a:prstGeom prst="rect">
            <a:avLst/>
          </a:prstGeom>
        </p:spPr>
      </p:pic>
      <p:graphicFrame>
        <p:nvGraphicFramePr>
          <p:cNvPr id="296" name="table 296"/>
          <p:cNvGraphicFramePr>
            <a:graphicFrameLocks noGrp="1"/>
          </p:cNvGraphicFramePr>
          <p:nvPr/>
        </p:nvGraphicFramePr>
        <p:xfrm>
          <a:off x="186055" y="1397000"/>
          <a:ext cx="3987800" cy="2022475"/>
        </p:xfrm>
        <a:graphic>
          <a:graphicData uri="http://schemas.openxmlformats.org/drawingml/2006/table">
            <a:tbl>
              <a:tblPr/>
              <a:tblGrid>
                <a:gridCol w="3987800"/>
              </a:tblGrid>
              <a:tr h="1997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485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700" kern="0" spc="90" dirty="0">
                          <a:solidFill>
                            <a:srgbClr val="418AB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城市级消防远程监控</a:t>
                      </a:r>
                      <a:r>
                        <a:rPr sz="1700" kern="0" spc="80" dirty="0">
                          <a:solidFill>
                            <a:srgbClr val="418AB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89EC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2" name="textbox 302"/>
          <p:cNvSpPr/>
          <p:nvPr/>
        </p:nvSpPr>
        <p:spPr>
          <a:xfrm>
            <a:off x="1488732" y="5277611"/>
            <a:ext cx="138747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700" kern="0" spc="80" dirty="0">
                <a:solidFill>
                  <a:srgbClr val="418AB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运营中心平台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800" y="3884676"/>
            <a:ext cx="3762755" cy="1463039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5651" y="1557528"/>
            <a:ext cx="2310383" cy="1239011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633459" y="4718303"/>
            <a:ext cx="2808731" cy="961644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92776" y="3771900"/>
            <a:ext cx="28575" cy="1832609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282440" y="2609088"/>
            <a:ext cx="1757171" cy="1502664"/>
          </a:xfrm>
          <a:prstGeom prst="rect">
            <a:avLst/>
          </a:prstGeom>
        </p:spPr>
      </p:pic>
      <p:sp>
        <p:nvSpPr>
          <p:cNvPr id="314" name="rect 314"/>
          <p:cNvSpPr/>
          <p:nvPr/>
        </p:nvSpPr>
        <p:spPr>
          <a:xfrm>
            <a:off x="8633459" y="6170675"/>
            <a:ext cx="2808731" cy="560832"/>
          </a:xfrm>
          <a:prstGeom prst="rect">
            <a:avLst/>
          </a:prstGeom>
          <a:solidFill>
            <a:srgbClr val="4F81BD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6" name="textbox 316"/>
          <p:cNvSpPr/>
          <p:nvPr/>
        </p:nvSpPr>
        <p:spPr>
          <a:xfrm>
            <a:off x="9063901" y="5305644"/>
            <a:ext cx="2009775" cy="134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自动喷水灭火系统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87000"/>
              </a:lnSpc>
              <a:spcBef>
                <a:spcPts val="5"/>
              </a:spcBef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室内消火栓系统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27579" y="6312433"/>
            <a:ext cx="2308860" cy="28575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349264" y="5256987"/>
            <a:ext cx="1163920" cy="1455521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5666308" y="5826988"/>
            <a:ext cx="1788160" cy="517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980" algn="l" rtl="0" eaLnBrk="0">
              <a:lnSpc>
                <a:spcPct val="87000"/>
              </a:lnSpc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智慧消防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315"/>
              </a:spcBef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信息采集+控制器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4486300" y="2201494"/>
            <a:ext cx="138747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消防报警主机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9681781" y="5704217"/>
            <a:ext cx="1341119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水泵      喷淋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0" name="picture 3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194661" y="5478144"/>
            <a:ext cx="28575" cy="864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建设内容一：</a:t>
            </a:r>
            <a:r>
              <a:rPr spc="-44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由原来主机值班</a:t>
            </a:r>
            <a:r>
              <a:rPr spc="-44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6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升级为可视化值守屏</a:t>
            </a:r>
            <a:endParaRPr lang="zh-CN" altLang="en-US" spc="6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4400" y="1066800"/>
            <a:ext cx="5135245" cy="5574665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77940" y="1071245"/>
            <a:ext cx="4210050" cy="3122930"/>
          </a:xfrm>
          <a:prstGeom prst="rect">
            <a:avLst/>
          </a:prstGeom>
        </p:spPr>
      </p:pic>
      <p:sp>
        <p:nvSpPr>
          <p:cNvPr id="338" name="textbox 338"/>
          <p:cNvSpPr/>
          <p:nvPr/>
        </p:nvSpPr>
        <p:spPr>
          <a:xfrm>
            <a:off x="4506086" y="4719751"/>
            <a:ext cx="7035165" cy="899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系统一张图操作界面，简单易操控，消控室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部署值守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屏</a:t>
            </a:r>
            <a:r>
              <a:rPr sz="2300" b="1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实现消防系统告警、设施故障等全</a:t>
            </a:r>
            <a:r>
              <a:rPr sz="2300" b="1" u="sng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方位的监控预警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4498771" y="5817031"/>
            <a:ext cx="704405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tabLst>
                <a:tab pos="7030085" algn="l"/>
              </a:tabLst>
            </a:pPr>
            <a:r>
              <a:rPr sz="2300" b="1" u="sng" kern="0" spc="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和快速响应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构建数字化、智</a:t>
            </a:r>
            <a:r>
              <a:rPr sz="2300" b="1" u="sng" kern="0" spc="1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能化的防火监控体系，</a:t>
            </a:r>
            <a:r>
              <a:rPr sz="2300" u="sng" kern="0" spc="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4501210" y="6365671"/>
            <a:ext cx="424307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2300" b="1" u="sng" kern="0" spc="-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解决值班人员操作不熟练问题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1940248" y="6641397"/>
            <a:ext cx="144526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原操作消防主机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建设内容二：</a:t>
            </a:r>
            <a:r>
              <a:rPr spc="-6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消防设施实时监测及告警处</a:t>
            </a:r>
            <a:r>
              <a:rPr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理</a:t>
            </a:r>
            <a:endParaRPr lang="zh-CN" altLang="en-US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28003" y="1338071"/>
            <a:ext cx="5608320" cy="3558540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6428" y="1333500"/>
            <a:ext cx="5553455" cy="3564635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357936" y="5281091"/>
            <a:ext cx="11556365" cy="144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告警处置：</a:t>
            </a:r>
            <a:r>
              <a:rPr sz="2300" kern="0" spc="-6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当报警发生时，</a:t>
            </a:r>
            <a:r>
              <a:rPr sz="2300" b="1" u="sng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系统通过弹窗、语音提示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通知值守人员报警的设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备、时间、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3335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位置、平面分布图、附近绑定摄像头，</a:t>
            </a:r>
            <a:r>
              <a:rPr sz="2300" kern="0" spc="-6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以</a:t>
            </a:r>
            <a:r>
              <a:rPr sz="2300" b="1" u="sng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便于做初期远程复核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-6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同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时结合巡查人员反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馈的现场复核情况，并在</a:t>
            </a:r>
            <a:r>
              <a:rPr sz="2300" b="1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系统录入报警发生原因与处理结果，形成智能管理的闭环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09880"/>
            <a:ext cx="9432289" cy="430530"/>
          </a:xfrm>
        </p:spPr>
        <p:txBody>
          <a:bodyPr/>
          <a:p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建设内容三：</a:t>
            </a:r>
            <a:r>
              <a:rPr spc="-6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消防设施远程反向操控</a:t>
            </a:r>
            <a:r>
              <a:rPr spc="-4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zh-CN" spc="-4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65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掌控灭火黄金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期</a:t>
            </a:r>
            <a:endParaRPr lang="zh-CN" altLang="en-US" spc="6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5656" y="1219200"/>
            <a:ext cx="5262371" cy="3204971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329361" y="4868341"/>
            <a:ext cx="11307444" cy="144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89000"/>
              </a:lnSpc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真实火情：紧急火情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下，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可通过远程控制（需得到消防安全负责人或消防救援机构的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授权）相关的</a:t>
            </a:r>
            <a:r>
              <a:rPr sz="2300" b="1" u="sng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消火栓泵、喷淋泵、送排风机、消防讯响器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等消防设施，</a:t>
            </a:r>
            <a:r>
              <a:rPr sz="2300" kern="0" spc="-6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同时也支持消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020" algn="l" rtl="0" eaLnBrk="0">
              <a:lnSpc>
                <a:spcPct val="89000"/>
              </a:lnSpc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防主机的</a:t>
            </a:r>
            <a:r>
              <a:rPr sz="2300" b="1" u="sng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远程消音、复位、手自切换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9056" y="1219200"/>
            <a:ext cx="3502152" cy="3204971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08320" y="1219200"/>
            <a:ext cx="2793491" cy="3204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</a:t>
            </a:r>
            <a:r>
              <a:rPr lang="zh-CN"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四</a:t>
            </a:r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：</a:t>
            </a:r>
            <a:r>
              <a:rPr spc="-6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安消联动</a:t>
            </a:r>
            <a:r>
              <a:rPr spc="-4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6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高效核实火情</a:t>
            </a:r>
            <a:endParaRPr lang="zh-CN" altLang="en-US" spc="3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8660" y="1135379"/>
            <a:ext cx="11102340" cy="4136072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638429" y="5316016"/>
            <a:ext cx="10915650" cy="144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345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本功能需通过</a:t>
            </a:r>
            <a:r>
              <a:rPr sz="2300" b="1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安消服务器连接项目现有的视频监控系统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。通过视频区域覆盖，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r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有效实现误报过滤，减少应急联动响应和救援时间，最大化降低火灾损失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。另外，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为及时</a:t>
            </a:r>
            <a:r>
              <a:rPr sz="2300" b="1" u="sng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发现火灾，监视火情，应急响应</a:t>
            </a:r>
            <a:r>
              <a:rPr sz="2300" b="1" u="sng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与疏散指挥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提供有效手段。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8622731" y="4715387"/>
            <a:ext cx="225678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报警区域</a:t>
            </a:r>
            <a:r>
              <a:rPr sz="1500" b="1" kern="0" spc="-1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，视频实时画面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建设内容五：</a:t>
            </a:r>
            <a:r>
              <a:rPr spc="-5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后台数据中心</a:t>
            </a:r>
            <a:r>
              <a:rPr spc="-4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70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赋能高效管控</a:t>
            </a:r>
            <a:endParaRPr lang="zh-CN" altLang="en-US" spc="6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678433" y="5059476"/>
            <a:ext cx="10714990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8275" algn="l" rtl="0" eaLnBrk="0">
              <a:lnSpc>
                <a:spcPct val="89000"/>
              </a:lnSpc>
              <a:tabLst>
                <a:tab pos="10534015" algn="l"/>
              </a:tabLst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数据应用：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后台数据中心赋能系统日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常维护及管理，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AI</a:t>
            </a:r>
            <a:r>
              <a:rPr sz="2300" b="1" u="sng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智能报表，精准运维，</a:t>
            </a:r>
            <a:r>
              <a:rPr sz="2300" u="sng" kern="0" spc="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1590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b="1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维护成本投入透明化，设施设备维修保养做到有的放矢，不花冤枉钱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，责任领导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有效做到统一监测和管控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21552" y="1586483"/>
            <a:ext cx="5117591" cy="2913888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4276" y="1597151"/>
            <a:ext cx="5126735" cy="290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8234680" cy="430530"/>
          </a:xfrm>
        </p:spPr>
        <p:txBody>
          <a:bodyPr wrap="square"/>
          <a:p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建设内容六：</a:t>
            </a:r>
            <a:r>
              <a:rPr spc="-6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移动端</a:t>
            </a:r>
            <a:r>
              <a:rPr spc="-43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spc="-6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 </a:t>
            </a:r>
            <a:r>
              <a:rPr spc="7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责任领导随时随地</a:t>
            </a:r>
            <a:r>
              <a:rPr spc="6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一手掌控</a:t>
            </a:r>
            <a:endParaRPr lang="zh-CN" altLang="en-US" spc="6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4" name="textbox 412"/>
          <p:cNvSpPr/>
          <p:nvPr/>
        </p:nvSpPr>
        <p:spPr>
          <a:xfrm>
            <a:off x="1066800" y="5181600"/>
            <a:ext cx="10062845" cy="145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ct val="89000"/>
              </a:lnSpc>
              <a:spcBef>
                <a:spcPts val="695"/>
              </a:spcBef>
            </a:pPr>
            <a:endParaRPr sz="2300" kern="0" spc="90" dirty="0">
              <a:solidFill>
                <a:srgbClr val="000000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27940" algn="l" rtl="0" eaLnBrk="0">
              <a:lnSpc>
                <a:spcPct val="89000"/>
              </a:lnSpc>
              <a:spcBef>
                <a:spcPts val="695"/>
              </a:spcBef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管理单位按层级权限安装移动端，开展日常防火管理和紧急情况下的应急预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20"/>
              </a:spcBef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案启动，</a:t>
            </a:r>
            <a:r>
              <a:rPr sz="2300" b="1" u="sng" kern="0" spc="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实现了消防系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统</a:t>
            </a:r>
            <a:r>
              <a:rPr sz="2300" b="1" u="sng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sz="2300" u="sng" kern="0" spc="-53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u="sng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自上而下</a:t>
            </a:r>
            <a:r>
              <a:rPr sz="2300" u="sng" kern="0" spc="-83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u="sng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”管理模式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的历史性转变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145540"/>
            <a:ext cx="9712960" cy="4566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7595870" cy="430530"/>
          </a:xfrm>
        </p:spPr>
        <p:txBody>
          <a:bodyPr wrap="square"/>
          <a:p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故障及火警预警 远程反向操控等具体操作流程</a:t>
            </a:r>
            <a:endParaRPr lang="zh-CN" altLang="en-US" spc="9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66800"/>
            <a:ext cx="12192000" cy="549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故障及火警预警 远程反向操控等具体操作流程</a:t>
            </a:r>
            <a:endParaRPr lang="zh-CN" altLang="en-US" spc="9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9417685" cy="5546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454" name="rect 454"/>
          <p:cNvSpPr/>
          <p:nvPr/>
        </p:nvSpPr>
        <p:spPr>
          <a:xfrm>
            <a:off x="10608310" y="2802889"/>
            <a:ext cx="621665" cy="325755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textbox 456"/>
          <p:cNvSpPr/>
          <p:nvPr/>
        </p:nvSpPr>
        <p:spPr>
          <a:xfrm>
            <a:off x="533476" y="2361996"/>
            <a:ext cx="11129644" cy="2894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9000"/>
              </a:lnSpc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广东省实施《中华人民共和国消防法》办法（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2022修订）第十九条：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u="sng" kern="0" spc="-8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u="sng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能够通过城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2700" algn="l" rtl="0" eaLnBrk="0">
              <a:lnSpc>
                <a:spcPct val="135000"/>
              </a:lnSpc>
              <a:spcBef>
                <a:spcPts val="5"/>
              </a:spcBef>
            </a:pPr>
            <a:r>
              <a:rPr sz="2300" b="1" u="sng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市消防远程监控系统</a:t>
            </a:r>
            <a:r>
              <a:rPr sz="2300" b="1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实现</a:t>
            </a:r>
            <a:r>
              <a:rPr sz="2300" b="1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远程操作消防控制室所有控制功能</a:t>
            </a:r>
            <a:r>
              <a:rPr sz="2300" b="1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，每班不少于一人。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" indent="-10160" algn="l" rtl="0" eaLnBrk="0">
              <a:lnSpc>
                <a:spcPct val="99000"/>
              </a:lnSpc>
              <a:spcBef>
                <a:spcPts val="5"/>
              </a:spcBef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2、初步概算：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特有工种职业资格证书的值班人员综合成本约8000元/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月，单人用工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成本约10万元/年，单个消控室须配置三班倒6-8人（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含调休和巡查</a:t>
            </a:r>
            <a:r>
              <a:rPr sz="2300" kern="0" spc="1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），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缩减3-4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，每年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最少节省30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万以上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人力成本。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textbox 458"/>
          <p:cNvSpPr/>
          <p:nvPr/>
        </p:nvSpPr>
        <p:spPr>
          <a:xfrm>
            <a:off x="304538" y="1371332"/>
            <a:ext cx="10037444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5310" algn="l" rtl="0" eaLnBrk="0">
              <a:lnSpc>
                <a:spcPts val="3685"/>
              </a:lnSpc>
              <a:tabLst>
                <a:tab pos="722630" algn="l"/>
              </a:tabLst>
            </a:pPr>
            <a:r>
              <a:rPr sz="27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5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消控室实行双岗变单岗</a:t>
            </a:r>
            <a:r>
              <a:rPr sz="2700" b="1" kern="0" spc="-4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6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依法缩减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50%人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</a:t>
            </a:r>
            <a:r>
              <a:rPr sz="2700" b="1" kern="0" spc="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3" name="textbox 466"/>
          <p:cNvSpPr/>
          <p:nvPr/>
        </p:nvSpPr>
        <p:spPr>
          <a:xfrm>
            <a:off x="228338" y="1219084"/>
            <a:ext cx="11318875" cy="5046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5310" algn="l" rtl="0" eaLnBrk="0">
              <a:lnSpc>
                <a:spcPct val="88000"/>
              </a:lnSpc>
              <a:tabLst>
                <a:tab pos="722630" algn="l"/>
              </a:tabLst>
            </a:pPr>
            <a:r>
              <a:rPr sz="27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4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低成本实现智防</a:t>
            </a:r>
            <a:r>
              <a:rPr sz="2700" b="1" kern="0" spc="-4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6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全面提升火灾防控能</a:t>
            </a:r>
            <a:r>
              <a:rPr sz="2700" b="1" kern="0" spc="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7595" algn="l" rtl="0" eaLnBrk="0">
              <a:lnSpc>
                <a:spcPct val="89000"/>
              </a:lnSpc>
              <a:spcBef>
                <a:spcPts val="690"/>
              </a:spcBef>
            </a:pP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不改动现有消防系统，传统消防直接升级为智慧消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-10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u="sng" kern="0" spc="-9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u="sng" kern="0" spc="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市场普惠型套餐（惠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r" rtl="0" eaLnBrk="0">
              <a:lnSpc>
                <a:spcPct val="89000"/>
              </a:lnSpc>
              <a:spcBef>
                <a:spcPts val="1865"/>
              </a:spcBef>
            </a:pPr>
            <a:r>
              <a:rPr sz="2300" b="1" u="sng" kern="0" spc="1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效通</a:t>
            </a:r>
            <a:r>
              <a:rPr sz="2300" b="1" u="sng" kern="0" spc="-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sz="2300" u="sng" kern="0" spc="-6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b="1" u="sng" kern="0" spc="-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b="1" u="sng" kern="0" spc="13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接入成本低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提升火灾防控能力，实现主动预警，实现人防到智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防的全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461645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面飞跃。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8630" algn="l" rtl="0" eaLnBrk="0">
              <a:lnSpc>
                <a:spcPct val="89000"/>
              </a:lnSpc>
              <a:spcBef>
                <a:spcPts val="700"/>
              </a:spcBef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1、数据可视化助力防患于未然；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449580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2、全面监控，时刻守护--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智慧消防7x24小时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在线保障；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452120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3、</a:t>
            </a:r>
            <a:r>
              <a:rPr sz="2300" kern="0" spc="-9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“消防政务云</a:t>
            </a:r>
            <a:r>
              <a:rPr sz="2300" kern="0" spc="-8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”多层次实时监管；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5135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4、筑牢安全防线--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提升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主管单位消防风险防控能力。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228338" y="1142884"/>
            <a:ext cx="11829415" cy="5150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5310" algn="l" rtl="0" eaLnBrk="0">
              <a:lnSpc>
                <a:spcPct val="88000"/>
              </a:lnSpc>
              <a:tabLst>
                <a:tab pos="722630" algn="l"/>
              </a:tabLst>
            </a:pPr>
            <a:r>
              <a:rPr sz="27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5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提高消防维保效率</a:t>
            </a:r>
            <a:r>
              <a:rPr sz="2700" b="1" kern="0" spc="-4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7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减少监管单位检查频率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25500" algn="l" rtl="0" eaLnBrk="0">
              <a:lnSpc>
                <a:spcPct val="89000"/>
              </a:lnSpc>
              <a:spcBef>
                <a:spcPts val="700"/>
              </a:spcBef>
              <a:tabLst>
                <a:tab pos="11816080" algn="l"/>
              </a:tabLst>
            </a:pPr>
            <a:r>
              <a:rPr sz="2300" kern="0" spc="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AI</a:t>
            </a:r>
            <a:r>
              <a:rPr sz="2300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智能报表，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精准运维，</a:t>
            </a:r>
            <a:r>
              <a:rPr sz="2300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维护成本投入透明化，</a:t>
            </a:r>
            <a:r>
              <a:rPr sz="2300" b="1" u="sng" kern="0" spc="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设施设备维修保养做到有的放矢，</a:t>
            </a:r>
            <a:r>
              <a:rPr sz="2300" u="sng" kern="0" spc="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86690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b="1" u="sng" kern="0" spc="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不花冤枉钱，</a:t>
            </a:r>
            <a:r>
              <a:rPr sz="2300" u="sng" kern="0" spc="-105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-9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1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大大提升维保效率及规范维保管理</a:t>
            </a:r>
            <a:r>
              <a:rPr sz="2300" kern="0" spc="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实现线上维保流程，提高维保监管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97485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能力，减少监管单位的检查频次。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2405" algn="l" rtl="0" eaLnBrk="0">
              <a:lnSpc>
                <a:spcPct val="89000"/>
              </a:lnSpc>
              <a:spcBef>
                <a:spcPts val="700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系统包含巡查、检测、维修、保养这四大功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能项。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73355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提供标准化运维流程。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75895" algn="l" rtl="0" eaLnBrk="0">
              <a:lnSpc>
                <a:spcPct val="89000"/>
              </a:lnSpc>
              <a:spcBef>
                <a:spcPts val="1865"/>
              </a:spcBef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具备工单的派发、工单进展实时监控、工单详情查看、工单的确认和处理等功能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8910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4.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实时接收现场需维保的情况，精准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运维，提高效率。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761720" y="2057196"/>
            <a:ext cx="10627359" cy="3629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9000"/>
              </a:lnSpc>
            </a:pPr>
            <a:r>
              <a:rPr sz="2300" kern="0" spc="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</a:t>
            </a:r>
            <a:r>
              <a:rPr sz="2300" kern="0" spc="-4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5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自2008年7月1</a:t>
            </a:r>
            <a:r>
              <a:rPr sz="2300" kern="0" spc="-4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4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日起，我国的消防控制室正式开启了24小时双人值班制度。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8415" indent="-5715" algn="l" rtl="0" eaLnBrk="0">
              <a:lnSpc>
                <a:spcPct val="103000"/>
              </a:lnSpc>
              <a:spcBef>
                <a:spcPts val="425"/>
              </a:spcBef>
            </a:pPr>
            <a:r>
              <a:rPr sz="2300" kern="0" spc="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2020年1月1</a:t>
            </a:r>
            <a:r>
              <a:rPr sz="2300" kern="0" spc="-4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7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日实施的</a:t>
            </a:r>
            <a:r>
              <a:rPr sz="2300" kern="0" spc="6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国家职业技能标准《消防设施操作员》的通知指出，监控、</a:t>
            </a:r>
            <a:r>
              <a:rPr sz="2300" kern="0" spc="10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操作设有联动控制设备的消防控制室的</a:t>
            </a:r>
            <a:r>
              <a:rPr sz="2300" kern="0" spc="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人员，应持中级（四级）及以上等级证</a:t>
            </a:r>
            <a:r>
              <a:rPr sz="2300" kern="0" spc="9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书。但</a:t>
            </a:r>
            <a:r>
              <a:rPr sz="2300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国内具有中级证书的值班人员数量十分稀缺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，且用工成本高，流动性大，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给用人单位和行政监管带来很大困扰</a:t>
            </a:r>
            <a:r>
              <a:rPr sz="2300" kern="0" spc="80" dirty="0">
                <a:solidFill>
                  <a:srgbClr val="262626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-4445" algn="l" rtl="0" eaLnBrk="0">
              <a:lnSpc>
                <a:spcPct val="99000"/>
              </a:lnSpc>
              <a:spcBef>
                <a:spcPts val="5"/>
              </a:spcBef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2、根据《广东省实施〈中华人民共和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国消防法〉办法》通过升级为智慧消防系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统并实现远程消防设施控制功能，</a:t>
            </a:r>
            <a:r>
              <a:rPr sz="2300" kern="0" spc="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可实</a:t>
            </a:r>
            <a:r>
              <a:rPr sz="2300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现单位现有消控室人员数量减半，不仅</a:t>
            </a:r>
            <a:r>
              <a:rPr sz="2300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仅降低了企业成本，更解决了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招人难的问题。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350893" y="1219084"/>
            <a:ext cx="6423659" cy="464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5310" algn="l" rtl="0" eaLnBrk="0">
              <a:lnSpc>
                <a:spcPct val="88000"/>
              </a:lnSpc>
              <a:tabLst>
                <a:tab pos="722630" algn="l"/>
              </a:tabLst>
            </a:pPr>
            <a:r>
              <a:rPr sz="27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700" b="1" kern="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5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解决物业公司招人难问题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8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pic>
        <p:nvPicPr>
          <p:cNvPr id="7" name="picture 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08067" y="4522343"/>
            <a:ext cx="720852" cy="743711"/>
          </a:xfrm>
          <a:prstGeom prst="rect">
            <a:avLst/>
          </a:prstGeom>
        </p:spPr>
      </p:pic>
      <p:sp>
        <p:nvSpPr>
          <p:cNvPr id="9" name="textbox 494"/>
          <p:cNvSpPr/>
          <p:nvPr/>
        </p:nvSpPr>
        <p:spPr>
          <a:xfrm>
            <a:off x="22225" y="6037580"/>
            <a:ext cx="12192000" cy="708025"/>
          </a:xfrm>
          <a:prstGeom prst="rect">
            <a:avLst/>
          </a:prstGeom>
          <a:solidFill>
            <a:srgbClr val="FAC09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indent="1905" algn="l" rtl="0" eaLnBrk="0">
              <a:lnSpc>
                <a:spcPct val="97000"/>
              </a:lnSpc>
              <a:spcBef>
                <a:spcPts val="5"/>
              </a:spcBef>
            </a:pPr>
            <a:r>
              <a:rPr sz="1700" b="1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消防安全的责任是法人代表</a:t>
            </a:r>
            <a:r>
              <a:rPr sz="1700" b="1" kern="0" spc="-2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，金字塔式消防管理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，责任没有落地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，使得法人承担最大的安全责任。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智慧消防系统从明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确责任主体、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细化责任任务、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监督责任执行三方面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u="sng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落实消防安全责任</a:t>
            </a:r>
            <a:r>
              <a:rPr sz="1700" b="1" u="sng" kern="0" spc="-2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u="sng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u="sng" kern="0" spc="-37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u="sng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各司其职责任落地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496"/>
          <p:cNvSpPr/>
          <p:nvPr/>
        </p:nvSpPr>
        <p:spPr>
          <a:xfrm>
            <a:off x="380738" y="1067040"/>
            <a:ext cx="11546840" cy="582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5310" algn="l" rtl="0" eaLnBrk="0">
              <a:lnSpc>
                <a:spcPct val="88000"/>
              </a:lnSpc>
              <a:spcBef>
                <a:spcPts val="5"/>
              </a:spcBef>
              <a:tabLst>
                <a:tab pos="722630" algn="l"/>
              </a:tabLst>
            </a:pPr>
            <a:r>
              <a:rPr sz="27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5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30" dirty="0">
                <a:solidFill>
                  <a:srgbClr val="2169D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2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责任清晰</a:t>
            </a:r>
            <a:r>
              <a:rPr sz="2700" b="1" kern="0" spc="-4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6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各司其职                                  </a:t>
            </a:r>
            <a:r>
              <a:rPr sz="27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group 2"/>
          <p:cNvGrpSpPr/>
          <p:nvPr/>
        </p:nvGrpSpPr>
        <p:grpSpPr>
          <a:xfrm rot="21600000">
            <a:off x="1570291" y="4310379"/>
            <a:ext cx="4392676" cy="714375"/>
            <a:chOff x="0" y="0"/>
            <a:chExt cx="4392676" cy="714375"/>
          </a:xfrm>
        </p:grpSpPr>
        <p:sp>
          <p:nvSpPr>
            <p:cNvPr id="14" name="path 502"/>
            <p:cNvSpPr/>
            <p:nvPr/>
          </p:nvSpPr>
          <p:spPr>
            <a:xfrm>
              <a:off x="947673" y="39243"/>
              <a:ext cx="3445002" cy="649223"/>
            </a:xfrm>
            <a:custGeom>
              <a:avLst/>
              <a:gdLst/>
              <a:ahLst/>
              <a:cxnLst/>
              <a:rect l="0" t="0" r="0" b="0"/>
              <a:pathLst>
                <a:path w="5425" h="1022">
                  <a:moveTo>
                    <a:pt x="502" y="0"/>
                  </a:moveTo>
                  <a:lnTo>
                    <a:pt x="4922" y="0"/>
                  </a:lnTo>
                  <a:lnTo>
                    <a:pt x="5425" y="1022"/>
                  </a:lnTo>
                  <a:lnTo>
                    <a:pt x="0" y="1022"/>
                  </a:lnTo>
                  <a:lnTo>
                    <a:pt x="502" y="0"/>
                  </a:lnTo>
                </a:path>
              </a:pathLst>
            </a:custGeom>
            <a:solidFill>
              <a:srgbClr val="FD3D3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" name="textbox 504"/>
            <p:cNvSpPr/>
            <p:nvPr/>
          </p:nvSpPr>
          <p:spPr>
            <a:xfrm>
              <a:off x="1455801" y="64960"/>
              <a:ext cx="2379979" cy="459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41985" indent="-629920" algn="l" rtl="0" eaLnBrk="0">
                <a:lnSpc>
                  <a:spcPct val="97000"/>
                </a:lnSpc>
              </a:pPr>
              <a:r>
                <a:rPr sz="15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例会、</a:t>
              </a:r>
              <a:r>
                <a:rPr sz="1500" kern="0" spc="-2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制度、检查、</a:t>
              </a:r>
              <a:r>
                <a:rPr sz="1500" kern="0" spc="-3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指挥、</a:t>
              </a:r>
              <a:r>
                <a:rPr sz="1500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联查、</a:t>
              </a:r>
              <a:r>
                <a:rPr sz="1500" kern="0" spc="-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台帐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6" name="picture 5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22755" cy="714375"/>
            </a:xfrm>
            <a:prstGeom prst="rect">
              <a:avLst/>
            </a:prstGeom>
          </p:spPr>
        </p:pic>
      </p:grpSp>
      <p:sp>
        <p:nvSpPr>
          <p:cNvPr id="17" name="rect 508"/>
          <p:cNvSpPr/>
          <p:nvPr/>
        </p:nvSpPr>
        <p:spPr>
          <a:xfrm>
            <a:off x="2168144" y="5061838"/>
            <a:ext cx="4145279" cy="650747"/>
          </a:xfrm>
          <a:prstGeom prst="rect">
            <a:avLst/>
          </a:prstGeom>
          <a:solidFill>
            <a:srgbClr val="595959">
              <a:alpha val="7882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textbox 510"/>
          <p:cNvSpPr/>
          <p:nvPr/>
        </p:nvSpPr>
        <p:spPr>
          <a:xfrm>
            <a:off x="2819495" y="5783675"/>
            <a:ext cx="873886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三角形管理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，责任层层削弱                                    智慧消防管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7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，物联管理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责任明确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" name="group 4"/>
          <p:cNvGrpSpPr/>
          <p:nvPr/>
        </p:nvGrpSpPr>
        <p:grpSpPr>
          <a:xfrm rot="21600000">
            <a:off x="2869755" y="3634994"/>
            <a:ext cx="2741421" cy="652017"/>
            <a:chOff x="0" y="0"/>
            <a:chExt cx="2741421" cy="652017"/>
          </a:xfrm>
        </p:grpSpPr>
        <p:sp>
          <p:nvSpPr>
            <p:cNvPr id="20" name="path 512"/>
            <p:cNvSpPr/>
            <p:nvPr/>
          </p:nvSpPr>
          <p:spPr>
            <a:xfrm>
              <a:off x="0" y="0"/>
              <a:ext cx="2741421" cy="652017"/>
            </a:xfrm>
            <a:custGeom>
              <a:avLst/>
              <a:gdLst/>
              <a:ahLst/>
              <a:cxnLst/>
              <a:rect l="0" t="0" r="0" b="0"/>
              <a:pathLst>
                <a:path w="4317" h="1026">
                  <a:moveTo>
                    <a:pt x="502" y="0"/>
                  </a:moveTo>
                  <a:lnTo>
                    <a:pt x="3814" y="0"/>
                  </a:lnTo>
                  <a:lnTo>
                    <a:pt x="4317" y="1026"/>
                  </a:lnTo>
                  <a:lnTo>
                    <a:pt x="0" y="1026"/>
                  </a:lnTo>
                  <a:lnTo>
                    <a:pt x="502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" name="textbox 514"/>
            <p:cNvSpPr/>
            <p:nvPr/>
          </p:nvSpPr>
          <p:spPr>
            <a:xfrm>
              <a:off x="-12700" y="-12700"/>
              <a:ext cx="2767329" cy="6870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77875" algn="l" rtl="0" eaLnBrk="0">
                <a:lnSpc>
                  <a:spcPct val="87000"/>
                </a:lnSpc>
                <a:spcBef>
                  <a:spcPts val="5"/>
                </a:spcBef>
              </a:pPr>
              <a:r>
                <a:rPr sz="15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专兼职消防员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" name="textbox 516"/>
          <p:cNvSpPr/>
          <p:nvPr/>
        </p:nvSpPr>
        <p:spPr>
          <a:xfrm>
            <a:off x="618007" y="2993643"/>
            <a:ext cx="729615" cy="255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indent="2540" algn="l" rtl="0" eaLnBrk="0">
              <a:lnSpc>
                <a:spcPct val="97000"/>
              </a:lnSpc>
              <a:spcBef>
                <a:spcPts val="51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管理措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7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" name="group 6"/>
          <p:cNvGrpSpPr/>
          <p:nvPr/>
        </p:nvGrpSpPr>
        <p:grpSpPr>
          <a:xfrm rot="21600000">
            <a:off x="3219640" y="2924556"/>
            <a:ext cx="2041778" cy="647826"/>
            <a:chOff x="0" y="0"/>
            <a:chExt cx="2041778" cy="647826"/>
          </a:xfrm>
        </p:grpSpPr>
        <p:sp>
          <p:nvSpPr>
            <p:cNvPr id="24" name="path 518"/>
            <p:cNvSpPr/>
            <p:nvPr/>
          </p:nvSpPr>
          <p:spPr>
            <a:xfrm>
              <a:off x="0" y="0"/>
              <a:ext cx="2041778" cy="647826"/>
            </a:xfrm>
            <a:custGeom>
              <a:avLst/>
              <a:gdLst/>
              <a:ahLst/>
              <a:cxnLst/>
              <a:rect l="0" t="0" r="0" b="0"/>
              <a:pathLst>
                <a:path w="3215" h="1020">
                  <a:moveTo>
                    <a:pt x="502" y="0"/>
                  </a:moveTo>
                  <a:lnTo>
                    <a:pt x="2712" y="0"/>
                  </a:lnTo>
                  <a:lnTo>
                    <a:pt x="3215" y="1020"/>
                  </a:lnTo>
                  <a:lnTo>
                    <a:pt x="0" y="1020"/>
                  </a:lnTo>
                  <a:lnTo>
                    <a:pt x="502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" name="textbox 520"/>
            <p:cNvSpPr/>
            <p:nvPr/>
          </p:nvSpPr>
          <p:spPr>
            <a:xfrm>
              <a:off x="-12700" y="-12700"/>
              <a:ext cx="2067560" cy="6845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9590" algn="l" rtl="0" eaLnBrk="0">
                <a:lnSpc>
                  <a:spcPct val="87000"/>
                </a:lnSpc>
                <a:spcBef>
                  <a:spcPts val="0"/>
                </a:spcBef>
              </a:pPr>
              <a:r>
                <a:rPr sz="15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消防管理人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6" name="textbox 522"/>
          <p:cNvSpPr/>
          <p:nvPr/>
        </p:nvSpPr>
        <p:spPr>
          <a:xfrm>
            <a:off x="2899918" y="5237289"/>
            <a:ext cx="2980689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8810" indent="-626745" algn="l" rtl="0" eaLnBrk="0">
              <a:lnSpc>
                <a:spcPct val="96000"/>
              </a:lnSpc>
            </a:pP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设备管理、应急处理、</a:t>
            </a:r>
            <a:r>
              <a:rPr sz="1500" kern="0" spc="-3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宣传培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训、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日常巡查、技术服务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7" name="group 8"/>
          <p:cNvGrpSpPr/>
          <p:nvPr/>
        </p:nvGrpSpPr>
        <p:grpSpPr>
          <a:xfrm rot="21600000">
            <a:off x="3569398" y="2209926"/>
            <a:ext cx="1342136" cy="652017"/>
            <a:chOff x="0" y="0"/>
            <a:chExt cx="1342136" cy="652017"/>
          </a:xfrm>
        </p:grpSpPr>
        <p:sp>
          <p:nvSpPr>
            <p:cNvPr id="28" name="path 524"/>
            <p:cNvSpPr/>
            <p:nvPr/>
          </p:nvSpPr>
          <p:spPr>
            <a:xfrm>
              <a:off x="0" y="0"/>
              <a:ext cx="1342136" cy="652017"/>
            </a:xfrm>
            <a:custGeom>
              <a:avLst/>
              <a:gdLst/>
              <a:ahLst/>
              <a:cxnLst/>
              <a:rect l="0" t="0" r="0" b="0"/>
              <a:pathLst>
                <a:path w="2113" h="1026">
                  <a:moveTo>
                    <a:pt x="506" y="0"/>
                  </a:moveTo>
                  <a:lnTo>
                    <a:pt x="1607" y="0"/>
                  </a:lnTo>
                  <a:lnTo>
                    <a:pt x="2113" y="1026"/>
                  </a:lnTo>
                  <a:lnTo>
                    <a:pt x="0" y="1026"/>
                  </a:lnTo>
                  <a:lnTo>
                    <a:pt x="506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" name="textbox 526"/>
            <p:cNvSpPr/>
            <p:nvPr/>
          </p:nvSpPr>
          <p:spPr>
            <a:xfrm>
              <a:off x="-12700" y="-12700"/>
              <a:ext cx="1367789" cy="688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9705" algn="l" rtl="0" eaLnBrk="0">
                <a:lnSpc>
                  <a:spcPct val="87000"/>
                </a:lnSpc>
              </a:pPr>
              <a:r>
                <a:rPr sz="15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消防责任人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0" name="picture 5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50267" y="3243097"/>
            <a:ext cx="1052602" cy="679577"/>
          </a:xfrm>
          <a:prstGeom prst="rect">
            <a:avLst/>
          </a:prstGeom>
        </p:spPr>
      </p:pic>
      <p:pic>
        <p:nvPicPr>
          <p:cNvPr id="31" name="picture 5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0167" y="2195334"/>
            <a:ext cx="123189" cy="3512794"/>
          </a:xfrm>
          <a:prstGeom prst="rect">
            <a:avLst/>
          </a:prstGeom>
        </p:spPr>
      </p:pic>
      <p:sp>
        <p:nvSpPr>
          <p:cNvPr id="32" name="path 532"/>
          <p:cNvSpPr/>
          <p:nvPr/>
        </p:nvSpPr>
        <p:spPr>
          <a:xfrm>
            <a:off x="3921188" y="1499488"/>
            <a:ext cx="638555" cy="647827"/>
          </a:xfrm>
          <a:custGeom>
            <a:avLst/>
            <a:gdLst/>
            <a:ahLst/>
            <a:cxnLst/>
            <a:rect l="0" t="0" r="0" b="0"/>
            <a:pathLst>
              <a:path w="1005" h="1020">
                <a:moveTo>
                  <a:pt x="502" y="0"/>
                </a:moveTo>
                <a:lnTo>
                  <a:pt x="1005" y="1020"/>
                </a:lnTo>
                <a:lnTo>
                  <a:pt x="0" y="1020"/>
                </a:lnTo>
                <a:lnTo>
                  <a:pt x="502" y="0"/>
                </a:ln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" name="picture 5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352" y="4360798"/>
            <a:ext cx="502919" cy="591311"/>
          </a:xfrm>
          <a:prstGeom prst="rect">
            <a:avLst/>
          </a:prstGeom>
        </p:spPr>
      </p:pic>
      <p:pic>
        <p:nvPicPr>
          <p:cNvPr id="34" name="picture 5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352" y="5077078"/>
            <a:ext cx="481583" cy="591311"/>
          </a:xfrm>
          <a:prstGeom prst="rect">
            <a:avLst/>
          </a:prstGeom>
        </p:spPr>
      </p:pic>
      <p:pic>
        <p:nvPicPr>
          <p:cNvPr id="35" name="picture 5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352" y="2952623"/>
            <a:ext cx="419100" cy="591311"/>
          </a:xfrm>
          <a:prstGeom prst="rect">
            <a:avLst/>
          </a:prstGeom>
        </p:spPr>
      </p:pic>
      <p:pic>
        <p:nvPicPr>
          <p:cNvPr id="36" name="picture 5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70291" y="2204847"/>
            <a:ext cx="2238374" cy="9524"/>
          </a:xfrm>
          <a:prstGeom prst="rect">
            <a:avLst/>
          </a:prstGeom>
        </p:spPr>
      </p:pic>
      <p:pic>
        <p:nvPicPr>
          <p:cNvPr id="37" name="picture 5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70291" y="5704459"/>
            <a:ext cx="538352" cy="9525"/>
          </a:xfrm>
          <a:prstGeom prst="rect">
            <a:avLst/>
          </a:prstGeom>
        </p:spPr>
      </p:pic>
      <p:pic>
        <p:nvPicPr>
          <p:cNvPr id="38" name="picture 4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80683" y="304800"/>
            <a:ext cx="1219136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建设价值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546" name="textbox 546"/>
          <p:cNvSpPr/>
          <p:nvPr/>
        </p:nvSpPr>
        <p:spPr>
          <a:xfrm>
            <a:off x="709650" y="2397556"/>
            <a:ext cx="10679430" cy="2147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9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1、保障生命和财产安全，消防安全是安全管理的重中之重，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智慧消防的接入，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9685" indent="1905" algn="l" rtl="0" eaLnBrk="0">
              <a:lnSpc>
                <a:spcPct val="96000"/>
              </a:lnSpc>
              <a:spcBef>
                <a:spcPts val="400"/>
              </a:spcBef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大大提升项目的安全防控能力，</a:t>
            </a:r>
            <a:r>
              <a:rPr sz="2300" kern="0" spc="10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减</a:t>
            </a:r>
            <a:r>
              <a:rPr sz="2300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轻了消防监管单位的管理压力和责任，也可获</a:t>
            </a:r>
            <a:r>
              <a:rPr sz="2300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得监管部门的高度认可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indent="-5715" algn="l" rtl="0" eaLnBrk="0">
              <a:lnSpc>
                <a:spcPct val="96000"/>
              </a:lnSpc>
              <a:spcBef>
                <a:spcPts val="5"/>
              </a:spcBef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2、智慧消防系统的接入，给客户提供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了更加安全、可靠的居住或生活环境，安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居乐业可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很好地提升客户的满意度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609338" y="1295284"/>
            <a:ext cx="8201659" cy="464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红利分享</a:t>
            </a:r>
            <a:r>
              <a:rPr sz="2700" b="1" kern="0" spc="4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提升物业管理服务</a:t>
            </a:r>
            <a:r>
              <a:rPr sz="2700" b="1" kern="0" spc="-4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6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</a:t>
            </a:r>
            <a:r>
              <a:rPr sz="2700" b="1" kern="0" spc="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强客户满意度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标杆案例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-152400" y="1252855"/>
            <a:ext cx="11231245" cy="575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碧桂园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小区</a:t>
            </a:r>
            <a:r>
              <a:rPr sz="2700" b="1" kern="0" spc="4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合法合规单人值班</a:t>
            </a:r>
            <a:r>
              <a:rPr sz="2700" b="1" kern="0" spc="-43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700" b="1" kern="0" spc="-7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物业公司降本增效创新典范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985" algn="l" rtl="0" eaLnBrk="0">
              <a:lnSpc>
                <a:spcPct val="89000"/>
              </a:lnSpc>
              <a:spcBef>
                <a:spcPts val="700"/>
              </a:spcBef>
            </a:pP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textbox 602"/>
          <p:cNvSpPr/>
          <p:nvPr/>
        </p:nvSpPr>
        <p:spPr>
          <a:xfrm>
            <a:off x="228600" y="1981200"/>
            <a:ext cx="4904740" cy="4097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985" algn="l" rtl="0" eaLnBrk="0">
              <a:lnSpc>
                <a:spcPct val="89000"/>
              </a:lnSpc>
              <a:spcBef>
                <a:spcPts val="700"/>
              </a:spcBef>
            </a:pPr>
            <a:r>
              <a:rPr lang="en-US"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位于东莞市</a:t>
            </a:r>
            <a:r>
              <a:rPr lang="en-US"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XX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中心，总建筑面积约15万㎡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，属于中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等规模住宅社区，</a:t>
            </a:r>
            <a:r>
              <a:rPr sz="2300" b="1" u="sng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管理范围较大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，消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防系统依赖人工管理存在一定的管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漏洞和安全隐患，引进智慧消防，利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用人工智能的手段，提升其管控效率，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依法依规单人值班。</a:t>
            </a:r>
            <a:r>
              <a:rPr sz="2300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碧桂园物业</a:t>
            </a:r>
            <a:r>
              <a:rPr sz="2300" u="sng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在东莞200多个项目运营中，</a:t>
            </a:r>
            <a:r>
              <a:rPr sz="2300" u="sng" kern="0" spc="7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滨海明珠的</a:t>
            </a:r>
            <a:r>
              <a:rPr sz="2300" u="sng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成功试点起到了物业管理</a:t>
            </a:r>
            <a:r>
              <a:rPr sz="2300" u="sng" kern="0" spc="8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公司在安全</a:t>
            </a:r>
            <a:r>
              <a:rPr sz="2300" u="sng" kern="0" spc="-1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管理领域降本增效的数字化创新典范。</a:t>
            </a:r>
            <a:endParaRPr lang="en-US" sz="2300" u="sng" kern="0" spc="0" dirty="0">
              <a:solidFill>
                <a:srgbClr val="FF0000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1828800"/>
            <a:ext cx="5435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9855" y="309880"/>
            <a:ext cx="9432289" cy="430530"/>
          </a:xfrm>
        </p:spPr>
        <p:txBody>
          <a:bodyPr/>
          <a:p>
            <a:r>
              <a:rPr lang="zh-CN" spc="90" dirty="0">
                <a:solidFill>
                  <a:srgbClr val="1C4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标杆案例</a:t>
            </a:r>
            <a:endParaRPr lang="zh-CN" spc="80" dirty="0">
              <a:solidFill>
                <a:srgbClr val="1C4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381000" y="1295400"/>
            <a:ext cx="10309860" cy="575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8000"/>
              </a:lnSpc>
            </a:pPr>
            <a:r>
              <a:rPr lang="zh-CN"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东莞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7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酒店</a:t>
            </a:r>
            <a:r>
              <a:rPr sz="2700" b="1" kern="0" spc="4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大大提升了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消防系统防控能力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985" algn="l" rtl="0" eaLnBrk="0">
              <a:lnSpc>
                <a:spcPct val="89000"/>
              </a:lnSpc>
              <a:spcBef>
                <a:spcPts val="700"/>
              </a:spcBef>
            </a:pP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textbox 602"/>
          <p:cNvSpPr/>
          <p:nvPr/>
        </p:nvSpPr>
        <p:spPr>
          <a:xfrm>
            <a:off x="381000" y="1981200"/>
            <a:ext cx="4904740" cy="4097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604520" algn="l" rtl="0" eaLnBrk="0">
              <a:lnSpc>
                <a:spcPct val="103000"/>
              </a:lnSpc>
              <a:spcBef>
                <a:spcPts val="690"/>
              </a:spcBef>
            </a:pPr>
            <a:r>
              <a:rPr lang="zh-CN"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东莞</a:t>
            </a:r>
            <a:r>
              <a:rPr lang="en-US" altLang="zh-CN"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XX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酒店共40层，拥有全智能化豪华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客房，大型无柱宴会厅及多功能会议厅、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高级</a:t>
            </a:r>
            <a:r>
              <a:rPr sz="2300" kern="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KTV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会所、棋牌室、健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身房等业态齐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全丰富多样。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14605" indent="607060" algn="l" rtl="0" eaLnBrk="0">
              <a:lnSpc>
                <a:spcPct val="104000"/>
              </a:lnSpc>
              <a:spcBef>
                <a:spcPts val="75"/>
              </a:spcBef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应用场景复杂，通过我司智慧消防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远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程监控系统的建设，不仅减少了值班人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员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的人力投入，更重要的是有效地提升了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防系统</a:t>
            </a:r>
            <a:r>
              <a:rPr sz="2300" kern="0" spc="9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防控能力和高效管理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，更好地明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确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了各级负责人的</a:t>
            </a:r>
            <a:r>
              <a:rPr sz="2300" kern="0" spc="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消防职责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，为酒店各业态的</a:t>
            </a:r>
            <a:r>
              <a:rPr sz="2300" kern="0" spc="120" dirty="0">
                <a:solidFill>
                  <a:srgbClr val="FF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经营环境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提供了更有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利的保障。</a:t>
            </a:r>
            <a:endParaRPr sz="2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580" name="picture 5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715000" y="2085975"/>
            <a:ext cx="5325110" cy="3992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任意多边形 301"/>
          <p:cNvSpPr/>
          <p:nvPr>
            <p:custDataLst>
              <p:tags r:id="rId1"/>
            </p:custDataLst>
          </p:nvPr>
        </p:nvSpPr>
        <p:spPr>
          <a:xfrm>
            <a:off x="940054" y="3718493"/>
            <a:ext cx="2494055" cy="389330"/>
          </a:xfrm>
          <a:custGeom>
            <a:avLst/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2 w 2294255"/>
              <a:gd name="connsiteY2" fmla="*/ 92433 h 358140"/>
              <a:gd name="connsiteX3" fmla="*/ 718820 w 2294255"/>
              <a:gd name="connsiteY3" fmla="*/ 178752 h 358140"/>
              <a:gd name="connsiteX4" fmla="*/ 727522 w 2294255"/>
              <a:gd name="connsiteY4" fmla="*/ 265071 h 358140"/>
              <a:gd name="connsiteX5" fmla="*/ 72861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5 w 2294255"/>
              <a:gd name="connsiteY12" fmla="*/ 268605 h 358140"/>
              <a:gd name="connsiteX13" fmla="*/ 1566732 w 2294255"/>
              <a:gd name="connsiteY13" fmla="*/ 265071 h 358140"/>
              <a:gd name="connsiteX14" fmla="*/ 1575434 w 2294255"/>
              <a:gd name="connsiteY14" fmla="*/ 178752 h 358140"/>
              <a:gd name="connsiteX15" fmla="*/ 1566732 w 2294255"/>
              <a:gd name="connsiteY15" fmla="*/ 92433 h 358140"/>
              <a:gd name="connsiteX16" fmla="*/ 1565833 w 2294255"/>
              <a:gd name="connsiteY16" fmla="*/ 89535 h 358140"/>
              <a:gd name="connsiteX17" fmla="*/ 2115185 w 229425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2" y="92433"/>
                </a:lnTo>
                <a:cubicBezTo>
                  <a:pt x="721816" y="120315"/>
                  <a:pt x="718820" y="149184"/>
                  <a:pt x="718820" y="178752"/>
                </a:cubicBezTo>
                <a:cubicBezTo>
                  <a:pt x="718820" y="208320"/>
                  <a:pt x="721816" y="237189"/>
                  <a:pt x="727522" y="265071"/>
                </a:cubicBezTo>
                <a:lnTo>
                  <a:pt x="7286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5" y="268605"/>
                </a:lnTo>
                <a:lnTo>
                  <a:pt x="1566732" y="265071"/>
                </a:lnTo>
                <a:cubicBezTo>
                  <a:pt x="1572438" y="237189"/>
                  <a:pt x="1575434" y="208320"/>
                  <a:pt x="1575434" y="178752"/>
                </a:cubicBezTo>
                <a:cubicBezTo>
                  <a:pt x="1575434" y="149184"/>
                  <a:pt x="1572438" y="120315"/>
                  <a:pt x="1566732" y="92433"/>
                </a:cubicBezTo>
                <a:lnTo>
                  <a:pt x="156583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rgbClr val="3665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3" name="任意多边形 302"/>
          <p:cNvSpPr/>
          <p:nvPr>
            <p:custDataLst>
              <p:tags r:id="rId2"/>
            </p:custDataLst>
          </p:nvPr>
        </p:nvSpPr>
        <p:spPr>
          <a:xfrm>
            <a:off x="3434109" y="3718493"/>
            <a:ext cx="2494055" cy="389330"/>
          </a:xfrm>
          <a:custGeom>
            <a:avLst/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2 w 2294255"/>
              <a:gd name="connsiteY2" fmla="*/ 92433 h 358140"/>
              <a:gd name="connsiteX3" fmla="*/ 718820 w 2294255"/>
              <a:gd name="connsiteY3" fmla="*/ 178752 h 358140"/>
              <a:gd name="connsiteX4" fmla="*/ 727522 w 2294255"/>
              <a:gd name="connsiteY4" fmla="*/ 265071 h 358140"/>
              <a:gd name="connsiteX5" fmla="*/ 72861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5 w 2294255"/>
              <a:gd name="connsiteY12" fmla="*/ 268605 h 358140"/>
              <a:gd name="connsiteX13" fmla="*/ 1566733 w 2294255"/>
              <a:gd name="connsiteY13" fmla="*/ 265071 h 358140"/>
              <a:gd name="connsiteX14" fmla="*/ 1575434 w 2294255"/>
              <a:gd name="connsiteY14" fmla="*/ 178752 h 358140"/>
              <a:gd name="connsiteX15" fmla="*/ 1566733 w 2294255"/>
              <a:gd name="connsiteY15" fmla="*/ 92433 h 358140"/>
              <a:gd name="connsiteX16" fmla="*/ 1565833 w 2294255"/>
              <a:gd name="connsiteY16" fmla="*/ 89535 h 358140"/>
              <a:gd name="connsiteX17" fmla="*/ 2115185 w 229425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2" y="92433"/>
                </a:lnTo>
                <a:cubicBezTo>
                  <a:pt x="721817" y="120315"/>
                  <a:pt x="718820" y="149184"/>
                  <a:pt x="718820" y="178752"/>
                </a:cubicBezTo>
                <a:cubicBezTo>
                  <a:pt x="718820" y="208320"/>
                  <a:pt x="721817" y="237189"/>
                  <a:pt x="727522" y="265071"/>
                </a:cubicBezTo>
                <a:lnTo>
                  <a:pt x="7286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5" y="268605"/>
                </a:lnTo>
                <a:lnTo>
                  <a:pt x="1566733" y="265071"/>
                </a:lnTo>
                <a:cubicBezTo>
                  <a:pt x="1572438" y="237189"/>
                  <a:pt x="1575434" y="208320"/>
                  <a:pt x="1575434" y="178752"/>
                </a:cubicBezTo>
                <a:cubicBezTo>
                  <a:pt x="1575434" y="149184"/>
                  <a:pt x="1572438" y="120315"/>
                  <a:pt x="1566733" y="92433"/>
                </a:cubicBezTo>
                <a:lnTo>
                  <a:pt x="156583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rgbClr val="3665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4" name="任意多边形 303"/>
          <p:cNvSpPr/>
          <p:nvPr>
            <p:custDataLst>
              <p:tags r:id="rId3"/>
            </p:custDataLst>
          </p:nvPr>
        </p:nvSpPr>
        <p:spPr>
          <a:xfrm>
            <a:off x="5928164" y="3718493"/>
            <a:ext cx="2494055" cy="389330"/>
          </a:xfrm>
          <a:custGeom>
            <a:avLst/>
            <a:gdLst>
              <a:gd name="connsiteX0" fmla="*/ 0 w 2294255"/>
              <a:gd name="connsiteY0" fmla="*/ 89535 h 358140"/>
              <a:gd name="connsiteX1" fmla="*/ 724612 w 2294255"/>
              <a:gd name="connsiteY1" fmla="*/ 89535 h 358140"/>
              <a:gd name="connsiteX2" fmla="*/ 723712 w 2294255"/>
              <a:gd name="connsiteY2" fmla="*/ 92433 h 358140"/>
              <a:gd name="connsiteX3" fmla="*/ 715010 w 2294255"/>
              <a:gd name="connsiteY3" fmla="*/ 178752 h 358140"/>
              <a:gd name="connsiteX4" fmla="*/ 723712 w 2294255"/>
              <a:gd name="connsiteY4" fmla="*/ 265071 h 358140"/>
              <a:gd name="connsiteX5" fmla="*/ 724809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1825 w 2294255"/>
              <a:gd name="connsiteY12" fmla="*/ 268605 h 358140"/>
              <a:gd name="connsiteX13" fmla="*/ 1562923 w 2294255"/>
              <a:gd name="connsiteY13" fmla="*/ 265071 h 358140"/>
              <a:gd name="connsiteX14" fmla="*/ 1571624 w 2294255"/>
              <a:gd name="connsiteY14" fmla="*/ 178752 h 358140"/>
              <a:gd name="connsiteX15" fmla="*/ 1562923 w 2294255"/>
              <a:gd name="connsiteY15" fmla="*/ 92433 h 358140"/>
              <a:gd name="connsiteX16" fmla="*/ 1562023 w 2294255"/>
              <a:gd name="connsiteY16" fmla="*/ 89535 h 358140"/>
              <a:gd name="connsiteX17" fmla="*/ 2115185 w 229425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4612" y="89535"/>
                </a:lnTo>
                <a:lnTo>
                  <a:pt x="723712" y="92433"/>
                </a:lnTo>
                <a:cubicBezTo>
                  <a:pt x="718007" y="120315"/>
                  <a:pt x="715010" y="149184"/>
                  <a:pt x="715010" y="178752"/>
                </a:cubicBezTo>
                <a:cubicBezTo>
                  <a:pt x="715010" y="208320"/>
                  <a:pt x="718007" y="237189"/>
                  <a:pt x="723712" y="265071"/>
                </a:cubicBezTo>
                <a:lnTo>
                  <a:pt x="72480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1825" y="268605"/>
                </a:lnTo>
                <a:lnTo>
                  <a:pt x="1562923" y="265071"/>
                </a:lnTo>
                <a:cubicBezTo>
                  <a:pt x="1568628" y="237189"/>
                  <a:pt x="1571624" y="208320"/>
                  <a:pt x="1571624" y="178752"/>
                </a:cubicBezTo>
                <a:cubicBezTo>
                  <a:pt x="1571624" y="149184"/>
                  <a:pt x="1568628" y="120315"/>
                  <a:pt x="1562923" y="92433"/>
                </a:cubicBezTo>
                <a:lnTo>
                  <a:pt x="1562023" y="89535"/>
                </a:lnTo>
                <a:lnTo>
                  <a:pt x="2115185" y="89535"/>
                </a:lnTo>
                <a:close/>
              </a:path>
            </a:pathLst>
          </a:custGeom>
          <a:solidFill>
            <a:srgbClr val="3665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5" name="任意多边形 304"/>
          <p:cNvSpPr/>
          <p:nvPr>
            <p:custDataLst>
              <p:tags r:id="rId4"/>
            </p:custDataLst>
          </p:nvPr>
        </p:nvSpPr>
        <p:spPr>
          <a:xfrm>
            <a:off x="8422219" y="3718493"/>
            <a:ext cx="2494055" cy="389330"/>
          </a:xfrm>
          <a:custGeom>
            <a:avLst/>
            <a:gdLst>
              <a:gd name="connsiteX0" fmla="*/ 0 w 2294255"/>
              <a:gd name="connsiteY0" fmla="*/ 89535 h 358140"/>
              <a:gd name="connsiteX1" fmla="*/ 728422 w 2294255"/>
              <a:gd name="connsiteY1" fmla="*/ 89535 h 358140"/>
              <a:gd name="connsiteX2" fmla="*/ 727523 w 2294255"/>
              <a:gd name="connsiteY2" fmla="*/ 92433 h 358140"/>
              <a:gd name="connsiteX3" fmla="*/ 718821 w 2294255"/>
              <a:gd name="connsiteY3" fmla="*/ 178752 h 358140"/>
              <a:gd name="connsiteX4" fmla="*/ 727523 w 2294255"/>
              <a:gd name="connsiteY4" fmla="*/ 265071 h 358140"/>
              <a:gd name="connsiteX5" fmla="*/ 728620 w 2294255"/>
              <a:gd name="connsiteY5" fmla="*/ 268605 h 358140"/>
              <a:gd name="connsiteX6" fmla="*/ 0 w 2294255"/>
              <a:gd name="connsiteY6" fmla="*/ 268605 h 358140"/>
              <a:gd name="connsiteX7" fmla="*/ 89535 w 2294255"/>
              <a:gd name="connsiteY7" fmla="*/ 179070 h 358140"/>
              <a:gd name="connsiteX8" fmla="*/ 2115185 w 2294255"/>
              <a:gd name="connsiteY8" fmla="*/ 0 h 358140"/>
              <a:gd name="connsiteX9" fmla="*/ 2294255 w 2294255"/>
              <a:gd name="connsiteY9" fmla="*/ 179070 h 358140"/>
              <a:gd name="connsiteX10" fmla="*/ 2115185 w 2294255"/>
              <a:gd name="connsiteY10" fmla="*/ 358140 h 358140"/>
              <a:gd name="connsiteX11" fmla="*/ 2115185 w 2294255"/>
              <a:gd name="connsiteY11" fmla="*/ 268605 h 358140"/>
              <a:gd name="connsiteX12" fmla="*/ 1565636 w 2294255"/>
              <a:gd name="connsiteY12" fmla="*/ 268605 h 358140"/>
              <a:gd name="connsiteX13" fmla="*/ 1566733 w 2294255"/>
              <a:gd name="connsiteY13" fmla="*/ 265071 h 358140"/>
              <a:gd name="connsiteX14" fmla="*/ 1575435 w 2294255"/>
              <a:gd name="connsiteY14" fmla="*/ 178752 h 358140"/>
              <a:gd name="connsiteX15" fmla="*/ 1566733 w 2294255"/>
              <a:gd name="connsiteY15" fmla="*/ 92433 h 358140"/>
              <a:gd name="connsiteX16" fmla="*/ 1565834 w 2294255"/>
              <a:gd name="connsiteY16" fmla="*/ 89535 h 358140"/>
              <a:gd name="connsiteX17" fmla="*/ 2115185 w 229425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4255" h="358140">
                <a:moveTo>
                  <a:pt x="0" y="89535"/>
                </a:moveTo>
                <a:lnTo>
                  <a:pt x="728422" y="89535"/>
                </a:lnTo>
                <a:lnTo>
                  <a:pt x="727523" y="92433"/>
                </a:lnTo>
                <a:cubicBezTo>
                  <a:pt x="721817" y="120315"/>
                  <a:pt x="718821" y="149184"/>
                  <a:pt x="718821" y="178752"/>
                </a:cubicBezTo>
                <a:cubicBezTo>
                  <a:pt x="718821" y="208320"/>
                  <a:pt x="721817" y="237189"/>
                  <a:pt x="727523" y="265071"/>
                </a:cubicBezTo>
                <a:lnTo>
                  <a:pt x="728620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115185" y="0"/>
                </a:moveTo>
                <a:lnTo>
                  <a:pt x="2294255" y="179070"/>
                </a:lnTo>
                <a:lnTo>
                  <a:pt x="2115185" y="358140"/>
                </a:lnTo>
                <a:lnTo>
                  <a:pt x="2115185" y="268605"/>
                </a:lnTo>
                <a:lnTo>
                  <a:pt x="1565636" y="268605"/>
                </a:lnTo>
                <a:lnTo>
                  <a:pt x="1566733" y="265071"/>
                </a:lnTo>
                <a:cubicBezTo>
                  <a:pt x="1572439" y="237189"/>
                  <a:pt x="1575435" y="208320"/>
                  <a:pt x="1575435" y="178752"/>
                </a:cubicBezTo>
                <a:cubicBezTo>
                  <a:pt x="1575435" y="149184"/>
                  <a:pt x="1572439" y="120315"/>
                  <a:pt x="1566733" y="92433"/>
                </a:cubicBezTo>
                <a:lnTo>
                  <a:pt x="1565834" y="89535"/>
                </a:lnTo>
                <a:lnTo>
                  <a:pt x="2115185" y="89535"/>
                </a:lnTo>
                <a:close/>
              </a:path>
            </a:pathLst>
          </a:custGeom>
          <a:solidFill>
            <a:srgbClr val="3665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6" name="椭圆 305"/>
          <p:cNvSpPr/>
          <p:nvPr>
            <p:custDataLst>
              <p:tags r:id="rId5"/>
            </p:custDataLst>
          </p:nvPr>
        </p:nvSpPr>
        <p:spPr>
          <a:xfrm>
            <a:off x="1755298" y="3481029"/>
            <a:ext cx="863566" cy="863566"/>
          </a:xfrm>
          <a:prstGeom prst="ellipse">
            <a:avLst/>
          </a:prstGeom>
          <a:solidFill>
            <a:srgbClr val="3665D9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7" name="椭圆 306"/>
          <p:cNvSpPr/>
          <p:nvPr>
            <p:custDataLst>
              <p:tags r:id="rId6"/>
            </p:custDataLst>
          </p:nvPr>
        </p:nvSpPr>
        <p:spPr>
          <a:xfrm>
            <a:off x="4249353" y="3481029"/>
            <a:ext cx="863566" cy="863566"/>
          </a:xfrm>
          <a:prstGeom prst="ellipse">
            <a:avLst/>
          </a:prstGeom>
          <a:solidFill>
            <a:srgbClr val="3665D9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8" name="椭圆 307"/>
          <p:cNvSpPr/>
          <p:nvPr>
            <p:custDataLst>
              <p:tags r:id="rId7"/>
            </p:custDataLst>
          </p:nvPr>
        </p:nvSpPr>
        <p:spPr>
          <a:xfrm>
            <a:off x="6735126" y="3481029"/>
            <a:ext cx="863566" cy="863566"/>
          </a:xfrm>
          <a:prstGeom prst="ellipse">
            <a:avLst/>
          </a:prstGeom>
          <a:solidFill>
            <a:srgbClr val="3665D9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9" name="椭圆 308"/>
          <p:cNvSpPr/>
          <p:nvPr>
            <p:custDataLst>
              <p:tags r:id="rId8"/>
            </p:custDataLst>
          </p:nvPr>
        </p:nvSpPr>
        <p:spPr>
          <a:xfrm>
            <a:off x="9237464" y="3481029"/>
            <a:ext cx="863566" cy="863566"/>
          </a:xfrm>
          <a:prstGeom prst="ellipse">
            <a:avLst/>
          </a:prstGeom>
          <a:solidFill>
            <a:srgbClr val="3665D9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0" name="矩形 309"/>
          <p:cNvSpPr/>
          <p:nvPr>
            <p:custDataLst>
              <p:tags r:id="rId9"/>
            </p:custDataLst>
          </p:nvPr>
        </p:nvSpPr>
        <p:spPr>
          <a:xfrm>
            <a:off x="498951" y="2057500"/>
            <a:ext cx="3818741" cy="10216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提供现场勘测与方案设计，工程师团队驻厂调研，根据企业库房布局与监管需求定制适配方案，确保系统精准部署。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14" name="矩形 313"/>
          <p:cNvSpPr/>
          <p:nvPr>
            <p:custDataLst>
              <p:tags r:id="rId10"/>
            </p:custDataLst>
          </p:nvPr>
        </p:nvSpPr>
        <p:spPr>
          <a:xfrm>
            <a:off x="5265672" y="2057500"/>
            <a:ext cx="3819590" cy="10216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小时在线响应，故障处理时限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小时，确保系统稳定运行，并提供终身售后支持。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矩形 314"/>
          <p:cNvSpPr/>
          <p:nvPr>
            <p:custDataLst>
              <p:tags r:id="rId11"/>
            </p:custDataLst>
          </p:nvPr>
        </p:nvSpPr>
        <p:spPr>
          <a:xfrm>
            <a:off x="5486992" y="1600205"/>
            <a:ext cx="3376950" cy="3437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02.</a:t>
            </a:r>
            <a:r>
              <a:rPr lang="zh-CN" altLang="en-US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全天候技术支持</a:t>
            </a:r>
            <a:endParaRPr lang="zh-CN" altLang="en-US" sz="2000" b="1">
              <a:solidFill>
                <a:srgbClr val="3665D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16" name="矩形 315"/>
          <p:cNvSpPr/>
          <p:nvPr>
            <p:custDataLst>
              <p:tags r:id="rId12"/>
            </p:custDataLst>
          </p:nvPr>
        </p:nvSpPr>
        <p:spPr>
          <a:xfrm>
            <a:off x="7980427" y="5245100"/>
            <a:ext cx="3819590" cy="10216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分阶段高效部署，15-20天完成系统调试，并实现与政府监管平台的数据无缝对接，满足合规要求。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317" name="图片 21" descr="/data/temp/eff785d5-99b9-11f0-9271-a2aa6ada1ba2.svgeff785d5-99b9-11f0-9271-a2aa6ada1ba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2010709" y="3736441"/>
            <a:ext cx="352227" cy="352227"/>
          </a:xfrm>
          <a:prstGeom prst="rect">
            <a:avLst/>
          </a:prstGeom>
        </p:spPr>
      </p:pic>
      <p:pic>
        <p:nvPicPr>
          <p:cNvPr id="318" name="图片 13" descr="/data/temp/eff78b92-99b9-11f0-9271-a2aa6ada1ba2.svgeff78b92-99b9-11f0-9271-a2aa6ada1ba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504765" y="3750246"/>
            <a:ext cx="352216" cy="352216"/>
          </a:xfrm>
          <a:prstGeom prst="rect">
            <a:avLst/>
          </a:prstGeom>
        </p:spPr>
      </p:pic>
      <p:pic>
        <p:nvPicPr>
          <p:cNvPr id="319" name="图片 3" descr="/data/temp/eff78e78-99b9-11f0-9271-a2aa6ada1ba2.svgeff78e78-99b9-11f0-9271-a2aa6ada1ba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6990536" y="3748866"/>
            <a:ext cx="352216" cy="352216"/>
          </a:xfrm>
          <a:prstGeom prst="rect">
            <a:avLst/>
          </a:prstGeom>
        </p:spPr>
      </p:pic>
      <p:sp>
        <p:nvSpPr>
          <p:cNvPr id="320" name="矩形 319"/>
          <p:cNvSpPr/>
          <p:nvPr>
            <p:custDataLst>
              <p:tags r:id="rId22"/>
            </p:custDataLst>
          </p:nvPr>
        </p:nvSpPr>
        <p:spPr>
          <a:xfrm>
            <a:off x="8201746" y="4781555"/>
            <a:ext cx="3376950" cy="3437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04.</a:t>
            </a:r>
            <a:r>
              <a:rPr lang="zh-CN" altLang="en-US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快速实施与无缝对接</a:t>
            </a:r>
            <a:endParaRPr lang="zh-CN" altLang="en-US" sz="2000" b="1">
              <a:solidFill>
                <a:srgbClr val="3665D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321" name="图片 8" descr="/data/temp/eff79102-99b9-11f0-9271-a2aa6ada1ba2.svgeff79102-99b9-11f0-9271-a2aa6ada1ba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9492875" y="3736441"/>
            <a:ext cx="352239" cy="352239"/>
          </a:xfrm>
          <a:prstGeom prst="rect">
            <a:avLst/>
          </a:prstGeom>
        </p:spPr>
      </p:pic>
      <p:sp>
        <p:nvSpPr>
          <p:cNvPr id="323" name="矩形 322"/>
          <p:cNvSpPr/>
          <p:nvPr>
            <p:custDataLst>
              <p:tags r:id="rId26"/>
            </p:custDataLst>
          </p:nvPr>
        </p:nvSpPr>
        <p:spPr>
          <a:xfrm>
            <a:off x="719502" y="1599900"/>
            <a:ext cx="3377640" cy="3437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01.</a:t>
            </a:r>
            <a:r>
              <a:rPr lang="zh-CN" altLang="en-US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定制化驻场服务</a:t>
            </a:r>
            <a:endParaRPr lang="zh-CN" altLang="en-US" sz="2000" b="1">
              <a:solidFill>
                <a:srgbClr val="3665D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12" name="矩形 311"/>
          <p:cNvSpPr/>
          <p:nvPr>
            <p:custDataLst>
              <p:tags r:id="rId27"/>
            </p:custDataLst>
          </p:nvPr>
        </p:nvSpPr>
        <p:spPr>
          <a:xfrm>
            <a:off x="2667000" y="5245100"/>
            <a:ext cx="3818890" cy="10217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手把手指导操作，提供模拟演练和操作手册，确保全员掌握预警处置流程，协助通过监管部门验收。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24" name="矩形 323"/>
          <p:cNvSpPr/>
          <p:nvPr>
            <p:custDataLst>
              <p:tags r:id="rId28"/>
            </p:custDataLst>
          </p:nvPr>
        </p:nvSpPr>
        <p:spPr>
          <a:xfrm>
            <a:off x="2887345" y="4781555"/>
            <a:ext cx="3377565" cy="3435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03.</a:t>
            </a:r>
            <a:r>
              <a:rPr lang="zh-CN" altLang="en-US" sz="2000" b="1">
                <a:solidFill>
                  <a:srgbClr val="3665D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全流程培训与演练</a:t>
            </a:r>
            <a:endParaRPr lang="zh-CN" altLang="en-US" sz="2000" b="1">
              <a:solidFill>
                <a:srgbClr val="3665D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28" name="object 2"/>
          <p:cNvSpPr txBox="1">
            <a:spLocks noGrp="1"/>
          </p:cNvSpPr>
          <p:nvPr/>
        </p:nvSpPr>
        <p:spPr>
          <a:xfrm>
            <a:off x="1379855" y="309880"/>
            <a:ext cx="299656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b="1" spc="8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  <a:sym typeface="+mn-ea"/>
              </a:rPr>
              <a:t>安为服务优势</a:t>
            </a:r>
            <a:endParaRPr lang="zh-CN" b="1" spc="80" dirty="0">
              <a:solidFill>
                <a:srgbClr val="0033CC">
                  <a:alpha val="100000"/>
                </a:srgbClr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79855" y="309880"/>
            <a:ext cx="9432289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b="1" kern="1200" dirty="0">
                <a:solidFill>
                  <a:srgbClr val="0033CC">
                    <a:alpha val="100000"/>
                  </a:srgbClr>
                </a:solidFill>
                <a:ea typeface="微软雅黑" panose="020B0503020204020204" charset="-122"/>
              </a:rPr>
              <a:t>整体服务流程介绍</a:t>
            </a:r>
            <a:endParaRPr lang="zh-CN" b="1" kern="1200" dirty="0">
              <a:solidFill>
                <a:srgbClr val="0033CC">
                  <a:alpha val="100000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"/>
            </p:custDataLst>
          </p:nvPr>
        </p:nvSpPr>
        <p:spPr>
          <a:xfrm>
            <a:off x="1976981" y="1841244"/>
            <a:ext cx="8028000" cy="28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5357495" y="4105910"/>
            <a:ext cx="4594860" cy="28829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31" name="空心弧 30"/>
          <p:cNvSpPr/>
          <p:nvPr>
            <p:custDataLst>
              <p:tags r:id="rId3"/>
            </p:custDataLst>
          </p:nvPr>
        </p:nvSpPr>
        <p:spPr>
          <a:xfrm>
            <a:off x="8803674" y="1841244"/>
            <a:ext cx="2340000" cy="2554301"/>
          </a:xfrm>
          <a:prstGeom prst="blockArc">
            <a:avLst>
              <a:gd name="adj1" fmla="val 16244966"/>
              <a:gd name="adj2" fmla="val 5527820"/>
              <a:gd name="adj3" fmla="val 12066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32" name="左箭头 31"/>
          <p:cNvSpPr/>
          <p:nvPr>
            <p:custDataLst>
              <p:tags r:id="rId4"/>
            </p:custDataLst>
          </p:nvPr>
        </p:nvSpPr>
        <p:spPr>
          <a:xfrm>
            <a:off x="3524250" y="3957320"/>
            <a:ext cx="903605" cy="589915"/>
          </a:xfrm>
          <a:prstGeom prst="leftArrow">
            <a:avLst>
              <a:gd name="adj1" fmla="val 50914"/>
              <a:gd name="adj2" fmla="val 62795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69" name="圆角矩形 68"/>
          <p:cNvSpPr/>
          <p:nvPr>
            <p:custDataLst>
              <p:tags r:id="rId5"/>
            </p:custDataLst>
          </p:nvPr>
        </p:nvSpPr>
        <p:spPr>
          <a:xfrm>
            <a:off x="1024890" y="1685290"/>
            <a:ext cx="2400300" cy="2112010"/>
          </a:xfrm>
          <a:prstGeom prst="roundRect">
            <a:avLst>
              <a:gd name="adj" fmla="val 4634"/>
            </a:avLst>
          </a:prstGeom>
          <a:solidFill>
            <a:srgbClr val="E6EC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6"/>
            </p:custDataLst>
          </p:nvPr>
        </p:nvSpPr>
        <p:spPr>
          <a:xfrm>
            <a:off x="1097915" y="2382520"/>
            <a:ext cx="2228850" cy="1279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200" spc="15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安排专业工程师团队到企业进行调研勘测，分析企业当前管理情况及生产设备信息情况。</a:t>
            </a:r>
            <a:endParaRPr lang="zh-CN" altLang="en-US" sz="1200" spc="150" dirty="0">
              <a:solidFill>
                <a:srgbClr val="355F9F"/>
              </a:solidFill>
              <a:latin typeface="微软雅黑" panose="020B0503020204020204" charset="-122"/>
              <a:ea typeface="微软雅黑" panose="020B0503020204020204" charset="-122"/>
              <a:cs typeface="Gill Sans MT" panose="020B0502020104020203" charset="0"/>
              <a:sym typeface="+mn-ea"/>
            </a:endParaRPr>
          </a:p>
        </p:txBody>
      </p:sp>
      <p:sp>
        <p:nvSpPr>
          <p:cNvPr id="71" name="圆角矩形 70"/>
          <p:cNvSpPr/>
          <p:nvPr>
            <p:custDataLst>
              <p:tags r:id="rId7"/>
            </p:custDataLst>
          </p:nvPr>
        </p:nvSpPr>
        <p:spPr>
          <a:xfrm>
            <a:off x="1024890" y="1678940"/>
            <a:ext cx="2399665" cy="612140"/>
          </a:xfrm>
          <a:prstGeom prst="roundRect">
            <a:avLst/>
          </a:prstGeom>
          <a:solidFill>
            <a:srgbClr val="3665D9"/>
          </a:solidFill>
          <a:ln w="9525" cap="flat" cmpd="sng" algn="ctr">
            <a:gradFill>
              <a:gsLst>
                <a:gs pos="0">
                  <a:srgbClr val="3665D9">
                    <a:alpha val="0"/>
                  </a:srgbClr>
                </a:gs>
                <a:gs pos="100000">
                  <a:srgbClr val="3665D9"/>
                </a:gs>
              </a:gsLst>
              <a:lin ang="5400000" scaled="1"/>
            </a:gradFill>
            <a:prstDash val="solid"/>
            <a:miter lim="800000"/>
          </a:ln>
          <a:effectLst>
            <a:outerShdw blurRad="368300" dist="203200" dir="5400000" sx="98000" sy="98000" algn="t" rotWithShape="0">
              <a:srgbClr val="1A45D1">
                <a:lumMod val="50000"/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72" name="文本框 71"/>
          <p:cNvSpPr txBox="1"/>
          <p:nvPr>
            <p:custDataLst>
              <p:tags r:id="rId8"/>
            </p:custDataLst>
          </p:nvPr>
        </p:nvSpPr>
        <p:spPr>
          <a:xfrm>
            <a:off x="1219200" y="1800860"/>
            <a:ext cx="193040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40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rPr lang="zh-CN" altLang="en-US" sz="18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1.现场调研勘测</a:t>
            </a:r>
            <a:endParaRPr lang="zh-CN" altLang="en-US" sz="18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7" name="组合 96"/>
          <p:cNvGrpSpPr/>
          <p:nvPr>
            <p:custDataLst>
              <p:tags r:id="rId9"/>
            </p:custDataLst>
          </p:nvPr>
        </p:nvGrpSpPr>
        <p:grpSpPr>
          <a:xfrm>
            <a:off x="4312920" y="1678940"/>
            <a:ext cx="2402205" cy="2118360"/>
            <a:chOff x="8018" y="2464"/>
            <a:chExt cx="3783" cy="3336"/>
          </a:xfrm>
        </p:grpSpPr>
        <p:sp>
          <p:nvSpPr>
            <p:cNvPr id="86" name="圆角矩形 85"/>
            <p:cNvSpPr/>
            <p:nvPr>
              <p:custDataLst>
                <p:tags r:id="rId10"/>
              </p:custDataLst>
            </p:nvPr>
          </p:nvSpPr>
          <p:spPr>
            <a:xfrm>
              <a:off x="8021" y="2474"/>
              <a:ext cx="3780" cy="3326"/>
            </a:xfrm>
            <a:prstGeom prst="roundRect">
              <a:avLst>
                <a:gd name="adj" fmla="val 4634"/>
              </a:avLst>
            </a:prstGeom>
            <a:solidFill>
              <a:srgbClr val="E6EC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kumimoji="1" lang="zh-CN" altLang="en-US">
                <a:solidFill>
                  <a:sysClr val="window" lastClr="FFFFFF"/>
                </a:solidFill>
                <a:latin typeface="Gill Sans MT" panose="020B0502020104020203" charset="0"/>
                <a:ea typeface="Gill Sans MT" panose="020B0502020104020203" charset="0"/>
              </a:endParaRPr>
            </a:p>
          </p:txBody>
        </p:sp>
        <p:sp>
          <p:nvSpPr>
            <p:cNvPr id="74" name="圆角矩形 73"/>
            <p:cNvSpPr/>
            <p:nvPr>
              <p:custDataLst>
                <p:tags r:id="rId11"/>
              </p:custDataLst>
            </p:nvPr>
          </p:nvSpPr>
          <p:spPr>
            <a:xfrm>
              <a:off x="8018" y="2464"/>
              <a:ext cx="3778" cy="964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gradFill>
                <a:gsLst>
                  <a:gs pos="0">
                    <a:srgbClr val="3665D9">
                      <a:alpha val="0"/>
                    </a:srgbClr>
                  </a:gs>
                  <a:gs pos="100000">
                    <a:srgbClr val="3665D9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68300" dist="203200" dir="5400000" sx="98000" sy="98000" algn="t" rotWithShape="0">
                <a:srgbClr val="1A45D1">
                  <a:lumMod val="50000"/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Gill Sans MT" panose="020B0502020104020203" charset="0"/>
                <a:ea typeface="Gill Sans MT" panose="020B0502020104020203" charset="0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2"/>
              </p:custDataLst>
            </p:nvPr>
          </p:nvSpPr>
          <p:spPr>
            <a:xfrm>
              <a:off x="8215" y="2656"/>
              <a:ext cx="3304" cy="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40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2.实施方案设计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13"/>
              </p:custDataLst>
            </p:nvPr>
          </p:nvSpPr>
          <p:spPr>
            <a:xfrm>
              <a:off x="8156" y="3572"/>
              <a:ext cx="3510" cy="20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 fontAlgn="auto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SzPct val="100000"/>
              </a:pPr>
              <a:r>
                <a:rPr lang="zh-CN" altLang="en-US" sz="1200" spc="150">
                  <a:solidFill>
                    <a:srgbClr val="355F9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针对勘测情况，结合专业判断进行实施方案设计，并与企业进行相关介绍及服务实施相关信息确认。</a:t>
              </a:r>
              <a:endParaRPr lang="zh-CN" altLang="en-US" sz="1200" spc="150" dirty="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cs typeface="Gill Sans MT" panose="020B0502020104020203" charset="0"/>
                <a:sym typeface="+mn-ea"/>
              </a:endParaRPr>
            </a:p>
          </p:txBody>
        </p:sp>
      </p:grpSp>
      <p:sp>
        <p:nvSpPr>
          <p:cNvPr id="88" name="圆角矩形 87"/>
          <p:cNvSpPr/>
          <p:nvPr>
            <p:custDataLst>
              <p:tags r:id="rId14"/>
            </p:custDataLst>
          </p:nvPr>
        </p:nvSpPr>
        <p:spPr>
          <a:xfrm>
            <a:off x="7604760" y="1685290"/>
            <a:ext cx="2400300" cy="2112010"/>
          </a:xfrm>
          <a:prstGeom prst="roundRect">
            <a:avLst>
              <a:gd name="adj" fmla="val 4634"/>
            </a:avLst>
          </a:prstGeom>
          <a:solidFill>
            <a:srgbClr val="E6EC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kumimoji="1"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91" name="文本框 90"/>
          <p:cNvSpPr txBox="1"/>
          <p:nvPr>
            <p:custDataLst>
              <p:tags r:id="rId15"/>
            </p:custDataLst>
          </p:nvPr>
        </p:nvSpPr>
        <p:spPr>
          <a:xfrm>
            <a:off x="7690485" y="2382520"/>
            <a:ext cx="2228850" cy="1279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200" spc="15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与企业对接入场前筹备、实施计划等信息后，按照实施方案进行实施及交付。</a:t>
            </a:r>
            <a:endParaRPr lang="zh-CN" altLang="en-US" sz="1200" spc="150" dirty="0">
              <a:solidFill>
                <a:srgbClr val="355F9F"/>
              </a:solidFill>
              <a:latin typeface="微软雅黑" panose="020B0503020204020204" charset="-122"/>
              <a:ea typeface="微软雅黑" panose="020B0503020204020204" charset="-122"/>
              <a:cs typeface="Gill Sans MT" panose="020B0502020104020203" charset="0"/>
              <a:sym typeface="+mn-ea"/>
            </a:endParaRPr>
          </a:p>
        </p:txBody>
      </p:sp>
      <p:sp>
        <p:nvSpPr>
          <p:cNvPr id="92" name="圆角矩形 91"/>
          <p:cNvSpPr/>
          <p:nvPr>
            <p:custDataLst>
              <p:tags r:id="rId16"/>
            </p:custDataLst>
          </p:nvPr>
        </p:nvSpPr>
        <p:spPr>
          <a:xfrm>
            <a:off x="1028065" y="3941445"/>
            <a:ext cx="2400300" cy="2112010"/>
          </a:xfrm>
          <a:prstGeom prst="roundRect">
            <a:avLst>
              <a:gd name="adj" fmla="val 4634"/>
            </a:avLst>
          </a:prstGeom>
          <a:solidFill>
            <a:srgbClr val="E6EC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kumimoji="1"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93" name="圆角矩形 92"/>
          <p:cNvSpPr/>
          <p:nvPr>
            <p:custDataLst>
              <p:tags r:id="rId17"/>
            </p:custDataLst>
          </p:nvPr>
        </p:nvSpPr>
        <p:spPr>
          <a:xfrm>
            <a:off x="1026160" y="3935095"/>
            <a:ext cx="2399030" cy="612140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gradFill>
              <a:gsLst>
                <a:gs pos="0">
                  <a:srgbClr val="3665D9">
                    <a:alpha val="0"/>
                  </a:srgbClr>
                </a:gs>
                <a:gs pos="100000">
                  <a:srgbClr val="3665D9"/>
                </a:gs>
              </a:gsLst>
              <a:lin ang="5400000" scaled="1"/>
            </a:gradFill>
            <a:prstDash val="solid"/>
            <a:miter lim="800000"/>
          </a:ln>
          <a:effectLst>
            <a:outerShdw blurRad="368300" dist="203200" dir="5400000" sx="98000" sy="98000" algn="t" rotWithShape="0">
              <a:srgbClr val="1A45D1">
                <a:lumMod val="50000"/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94" name="文本框 93"/>
          <p:cNvSpPr txBox="1"/>
          <p:nvPr>
            <p:custDataLst>
              <p:tags r:id="rId18"/>
            </p:custDataLst>
          </p:nvPr>
        </p:nvSpPr>
        <p:spPr>
          <a:xfrm>
            <a:off x="1151255" y="4057015"/>
            <a:ext cx="209804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40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6.省心售后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19"/>
            </p:custDataLst>
          </p:nvPr>
        </p:nvSpPr>
        <p:spPr>
          <a:xfrm>
            <a:off x="1113790" y="4638675"/>
            <a:ext cx="2228850" cy="1279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200" spc="15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针对售后使用过程的疑问，配备专业人员进行全天候跟进答疑。</a:t>
            </a:r>
            <a:endParaRPr lang="zh-CN" altLang="en-US" sz="1200" spc="150" dirty="0">
              <a:solidFill>
                <a:srgbClr val="355F9F"/>
              </a:solidFill>
              <a:latin typeface="微软雅黑" panose="020B0503020204020204" charset="-122"/>
              <a:ea typeface="微软雅黑" panose="020B0503020204020204" charset="-122"/>
              <a:cs typeface="Gill Sans MT" panose="020B0502020104020203" charset="0"/>
              <a:sym typeface="+mn-ea"/>
            </a:endParaRPr>
          </a:p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endParaRPr lang="zh-CN" altLang="en-US" sz="1200" spc="150" dirty="0">
              <a:solidFill>
                <a:srgbClr val="355F9F"/>
              </a:solidFill>
              <a:latin typeface="微软雅黑" panose="020B0503020204020204" charset="-122"/>
              <a:ea typeface="微软雅黑" panose="020B0503020204020204" charset="-122"/>
              <a:cs typeface="Gill Sans MT" panose="020B0502020104020203" charset="0"/>
              <a:sym typeface="+mn-ea"/>
            </a:endParaRPr>
          </a:p>
        </p:txBody>
      </p:sp>
      <p:sp>
        <p:nvSpPr>
          <p:cNvPr id="100" name="圆角矩形 99"/>
          <p:cNvSpPr/>
          <p:nvPr>
            <p:custDataLst>
              <p:tags r:id="rId20"/>
            </p:custDataLst>
          </p:nvPr>
        </p:nvSpPr>
        <p:spPr>
          <a:xfrm>
            <a:off x="4314825" y="3941445"/>
            <a:ext cx="2400300" cy="2112010"/>
          </a:xfrm>
          <a:prstGeom prst="roundRect">
            <a:avLst>
              <a:gd name="adj" fmla="val 4634"/>
            </a:avLst>
          </a:prstGeom>
          <a:solidFill>
            <a:srgbClr val="E6EC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kumimoji="1" lang="zh-CN" altLang="en-US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103" name="文本框 102"/>
          <p:cNvSpPr txBox="1"/>
          <p:nvPr>
            <p:custDataLst>
              <p:tags r:id="rId21"/>
            </p:custDataLst>
          </p:nvPr>
        </p:nvSpPr>
        <p:spPr>
          <a:xfrm>
            <a:off x="4400550" y="4638675"/>
            <a:ext cx="2228850" cy="1279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200" spc="15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配备专业指导小组进行平台使用培训及专业指导。</a:t>
            </a:r>
            <a:endParaRPr lang="zh-CN" altLang="en-US" sz="1200" spc="150" dirty="0">
              <a:solidFill>
                <a:srgbClr val="355F9F"/>
              </a:solidFill>
              <a:latin typeface="微软雅黑" panose="020B0503020204020204" charset="-122"/>
              <a:ea typeface="微软雅黑" panose="020B0503020204020204" charset="-122"/>
              <a:cs typeface="Gill Sans MT" panose="020B0502020104020203" charset="0"/>
              <a:sym typeface="+mn-ea"/>
            </a:endParaRPr>
          </a:p>
        </p:txBody>
      </p:sp>
      <p:grpSp>
        <p:nvGrpSpPr>
          <p:cNvPr id="134" name="组合 133"/>
          <p:cNvGrpSpPr/>
          <p:nvPr>
            <p:custDataLst>
              <p:tags r:id="rId22"/>
            </p:custDataLst>
          </p:nvPr>
        </p:nvGrpSpPr>
        <p:grpSpPr>
          <a:xfrm>
            <a:off x="7601585" y="3935095"/>
            <a:ext cx="2402205" cy="2118360"/>
            <a:chOff x="8018" y="2464"/>
            <a:chExt cx="3783" cy="3336"/>
          </a:xfrm>
        </p:grpSpPr>
        <p:sp>
          <p:nvSpPr>
            <p:cNvPr id="135" name="圆角矩形 134"/>
            <p:cNvSpPr/>
            <p:nvPr>
              <p:custDataLst>
                <p:tags r:id="rId23"/>
              </p:custDataLst>
            </p:nvPr>
          </p:nvSpPr>
          <p:spPr>
            <a:xfrm>
              <a:off x="8021" y="2474"/>
              <a:ext cx="3780" cy="3326"/>
            </a:xfrm>
            <a:prstGeom prst="roundRect">
              <a:avLst>
                <a:gd name="adj" fmla="val 4634"/>
              </a:avLst>
            </a:prstGeom>
            <a:solidFill>
              <a:srgbClr val="E6EC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kumimoji="1" lang="zh-CN" altLang="en-US">
                <a:solidFill>
                  <a:sysClr val="window" lastClr="FFFFFF"/>
                </a:solidFill>
                <a:latin typeface="Gill Sans MT" panose="020B0502020104020203" charset="0"/>
                <a:ea typeface="Gill Sans MT" panose="020B0502020104020203" charset="0"/>
              </a:endParaRPr>
            </a:p>
          </p:txBody>
        </p:sp>
        <p:sp>
          <p:nvSpPr>
            <p:cNvPr id="136" name="圆角矩形 135"/>
            <p:cNvSpPr/>
            <p:nvPr>
              <p:custDataLst>
                <p:tags r:id="rId24"/>
              </p:custDataLst>
            </p:nvPr>
          </p:nvSpPr>
          <p:spPr>
            <a:xfrm>
              <a:off x="8018" y="2464"/>
              <a:ext cx="3778" cy="964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gradFill>
                <a:gsLst>
                  <a:gs pos="0">
                    <a:srgbClr val="3665D9">
                      <a:alpha val="0"/>
                    </a:srgbClr>
                  </a:gs>
                  <a:gs pos="100000">
                    <a:srgbClr val="3665D9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68300" dist="203200" dir="5400000" sx="98000" sy="98000" algn="t" rotWithShape="0">
                <a:srgbClr val="1A45D1">
                  <a:lumMod val="50000"/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Gill Sans MT" panose="020B0502020104020203" charset="0"/>
                <a:ea typeface="Gill Sans MT" panose="020B0502020104020203" charset="0"/>
              </a:endParaRPr>
            </a:p>
          </p:txBody>
        </p:sp>
        <p:sp>
          <p:nvSpPr>
            <p:cNvPr id="137" name="文本框 136"/>
            <p:cNvSpPr txBox="1"/>
            <p:nvPr>
              <p:custDataLst>
                <p:tags r:id="rId25"/>
              </p:custDataLst>
            </p:nvPr>
          </p:nvSpPr>
          <p:spPr>
            <a:xfrm>
              <a:off x="8215" y="2656"/>
              <a:ext cx="3304" cy="1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10000"/>
                </a:lnSpc>
                <a:defRPr sz="140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4.平台接入部署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26"/>
              </p:custDataLst>
            </p:nvPr>
          </p:nvSpPr>
          <p:spPr>
            <a:xfrm>
              <a:off x="8156" y="3572"/>
              <a:ext cx="3510" cy="20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 fontAlgn="auto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SzPct val="100000"/>
              </a:pPr>
              <a:r>
                <a:rPr lang="zh-CN" altLang="en-US" sz="1200" spc="150">
                  <a:solidFill>
                    <a:srgbClr val="355F9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接入风险监测感知数据及监控数据，并依据企业情况进行平台后台部署设置，提高企业生产安全管理水平。</a:t>
              </a:r>
              <a:endParaRPr lang="zh-CN" altLang="en-US" sz="1200" spc="150" dirty="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cs typeface="Gill Sans MT" panose="020B0502020104020203" charset="0"/>
                <a:sym typeface="+mn-ea"/>
              </a:endParaRPr>
            </a:p>
            <a:p>
              <a:pPr marL="0" lvl="0" indent="0" algn="l" fontAlgn="auto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SzPct val="100000"/>
              </a:pPr>
              <a:endParaRPr lang="zh-CN" altLang="en-US" sz="1200" spc="150" dirty="0">
                <a:solidFill>
                  <a:srgbClr val="355F9F"/>
                </a:solidFill>
                <a:latin typeface="微软雅黑" panose="020B0503020204020204" charset="-122"/>
                <a:ea typeface="微软雅黑" panose="020B0503020204020204" charset="-122"/>
                <a:cs typeface="Gill Sans MT" panose="020B0502020104020203" charset="0"/>
                <a:sym typeface="+mn-ea"/>
              </a:endParaRPr>
            </a:p>
          </p:txBody>
        </p:sp>
      </p:grpSp>
      <p:sp>
        <p:nvSpPr>
          <p:cNvPr id="33" name="圆角矩形 32"/>
          <p:cNvSpPr/>
          <p:nvPr>
            <p:custDataLst>
              <p:tags r:id="rId27"/>
            </p:custDataLst>
          </p:nvPr>
        </p:nvSpPr>
        <p:spPr>
          <a:xfrm>
            <a:off x="7620000" y="1678940"/>
            <a:ext cx="2399665" cy="612140"/>
          </a:xfrm>
          <a:prstGeom prst="roundRect">
            <a:avLst/>
          </a:prstGeom>
          <a:solidFill>
            <a:srgbClr val="3665D9"/>
          </a:solidFill>
          <a:ln w="9525" cap="flat" cmpd="sng" algn="ctr">
            <a:gradFill>
              <a:gsLst>
                <a:gs pos="0">
                  <a:srgbClr val="3665D9">
                    <a:alpha val="0"/>
                  </a:srgbClr>
                </a:gs>
                <a:gs pos="100000">
                  <a:srgbClr val="3665D9"/>
                </a:gs>
              </a:gsLst>
              <a:lin ang="5400000" scaled="1"/>
            </a:gradFill>
            <a:prstDash val="solid"/>
            <a:miter lim="800000"/>
          </a:ln>
          <a:effectLst>
            <a:outerShdw blurRad="368300" dist="203200" dir="5400000" sx="98000" sy="98000" algn="t" rotWithShape="0">
              <a:srgbClr val="1A45D1">
                <a:lumMod val="50000"/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28"/>
            </p:custDataLst>
          </p:nvPr>
        </p:nvSpPr>
        <p:spPr>
          <a:xfrm>
            <a:off x="7814310" y="1800860"/>
            <a:ext cx="193040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40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.进场实施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圆角矩形 34"/>
          <p:cNvSpPr/>
          <p:nvPr>
            <p:custDataLst>
              <p:tags r:id="rId29"/>
            </p:custDataLst>
          </p:nvPr>
        </p:nvSpPr>
        <p:spPr>
          <a:xfrm>
            <a:off x="4315460" y="3915410"/>
            <a:ext cx="2399665" cy="612140"/>
          </a:xfrm>
          <a:prstGeom prst="roundRect">
            <a:avLst/>
          </a:prstGeom>
          <a:solidFill>
            <a:srgbClr val="3665D9"/>
          </a:solidFill>
          <a:ln w="9525" cap="flat" cmpd="sng" algn="ctr">
            <a:gradFill>
              <a:gsLst>
                <a:gs pos="0">
                  <a:srgbClr val="3665D9">
                    <a:alpha val="0"/>
                  </a:srgbClr>
                </a:gs>
                <a:gs pos="100000">
                  <a:srgbClr val="3665D9"/>
                </a:gs>
              </a:gsLst>
              <a:lin ang="5400000" scaled="1"/>
            </a:gradFill>
            <a:prstDash val="solid"/>
            <a:miter lim="800000"/>
          </a:ln>
          <a:effectLst>
            <a:outerShdw blurRad="368300" dist="203200" dir="5400000" sx="98000" sy="98000" algn="t" rotWithShape="0">
              <a:srgbClr val="1A45D1">
                <a:lumMod val="50000"/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Gill Sans MT" panose="020B0502020104020203" charset="0"/>
              <a:ea typeface="Gill Sans MT" panose="020B0502020104020203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4509770" y="4037330"/>
            <a:ext cx="193040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40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</a:t>
            </a:r>
            <a:r>
              <a:rPr 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使用培训</a:t>
            </a:r>
            <a:endPara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6" name="图片 65" descr="图片包含 游戏机, 床&#10;&#10;描述已自动生成"/>
          <p:cNvPicPr>
            <a:picLocks noChangeAspect="1"/>
          </p:cNvPicPr>
          <p:nvPr/>
        </p:nvPicPr>
        <p:blipFill rotWithShape="1">
          <a:blip r:embed="rId3">
            <a:alphaModFix amt="71000"/>
          </a:blip>
          <a:srcRect/>
          <a:stretch>
            <a:fillRect/>
          </a:stretch>
        </p:blipFill>
        <p:spPr>
          <a:xfrm>
            <a:off x="0" y="0"/>
            <a:ext cx="12220601" cy="6580798"/>
          </a:xfrm>
          <a:prstGeom prst="rect">
            <a:avLst/>
          </a:prstGeom>
        </p:spPr>
      </p:pic>
      <p:sp>
        <p:nvSpPr>
          <p:cNvPr id="67" name="矩形 66"/>
          <p:cNvSpPr/>
          <p:nvPr/>
        </p:nvSpPr>
        <p:spPr>
          <a:xfrm>
            <a:off x="-28575" y="-88900"/>
            <a:ext cx="12266930" cy="4442460"/>
          </a:xfrm>
          <a:prstGeom prst="rect">
            <a:avLst/>
          </a:prstGeom>
          <a:solidFill>
            <a:srgbClr val="1C43CC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0" y="4354195"/>
            <a:ext cx="12220575" cy="250380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200400" y="2438400"/>
            <a:ext cx="599122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atin typeface="+mj-lt"/>
                <a:ea typeface="+mj-ea"/>
              </a:defRPr>
            </a:lvl1pPr>
          </a:lstStyle>
          <a:p>
            <a:pPr algn="dist">
              <a:lnSpc>
                <a:spcPct val="120000"/>
              </a:lnSpc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致力于成为中国领先的安全与</a:t>
            </a:r>
            <a:r>
              <a:rPr lang="en-US" altLang="zh-CN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 </a:t>
            </a:r>
            <a:endParaRPr lang="zh-CN" altLang="en-US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黑体" panose="02010609060101010101" charset="-122"/>
              <a:sym typeface="+mn-lt"/>
            </a:endParaRPr>
          </a:p>
          <a:p>
            <a:pPr algn="dist">
              <a:lnSpc>
                <a:spcPct val="120000"/>
              </a:lnSpc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应急管理领域的综合服务提供商</a:t>
            </a:r>
            <a:endParaRPr lang="zh-CN" altLang="en-US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057400" y="1447800"/>
            <a:ext cx="826897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800" b="1" dirty="0">
                <a:solidFill>
                  <a:srgbClr val="FFD966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让工业更安全</a:t>
            </a:r>
            <a:r>
              <a:rPr lang="en-US" altLang="zh-CN" sz="4800" b="1" dirty="0">
                <a:solidFill>
                  <a:srgbClr val="FFD966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 </a:t>
            </a:r>
            <a:r>
              <a:rPr lang="zh-CN" altLang="en-US" sz="4800" b="1" dirty="0">
                <a:solidFill>
                  <a:srgbClr val="FFD966"/>
                </a:solidFill>
                <a:latin typeface="Arial" panose="020B0604020202020204" pitchFamily="34" charset="0"/>
                <a:ea typeface="微软雅黑" panose="020B0503020204020204" charset="-122"/>
                <a:cs typeface="黑体" panose="02010609060101010101" charset="-122"/>
                <a:sym typeface="+mn-lt"/>
              </a:rPr>
              <a:t>让企业更智能</a:t>
            </a:r>
            <a:endParaRPr lang="zh-CN" altLang="en-US" sz="4800" b="1" dirty="0">
              <a:solidFill>
                <a:srgbClr val="FFD966"/>
              </a:solidFill>
              <a:latin typeface="Arial" panose="020B0604020202020204" pitchFamily="34" charset="0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pic>
        <p:nvPicPr>
          <p:cNvPr id="11" name="图片 10" descr="C:\Users\anxun\Desktop\安为科技.jpg安为科技"/>
          <p:cNvPicPr>
            <a:picLocks noChangeAspect="1"/>
          </p:cNvPicPr>
          <p:nvPr/>
        </p:nvPicPr>
        <p:blipFill>
          <a:blip r:embed="rId4"/>
          <a:srcRect l="2500" t="2564" r="3813" b="3752"/>
          <a:stretch>
            <a:fillRect/>
          </a:stretch>
        </p:blipFill>
        <p:spPr>
          <a:xfrm>
            <a:off x="10134600" y="4759325"/>
            <a:ext cx="1057910" cy="1057910"/>
          </a:xfrm>
          <a:prstGeom prst="rect">
            <a:avLst/>
          </a:prstGeom>
          <a:ln w="25400">
            <a:gradFill>
              <a:gsLst>
                <a:gs pos="0">
                  <a:srgbClr val="0043D0"/>
                </a:gs>
                <a:gs pos="100000">
                  <a:srgbClr val="1D78FA">
                    <a:alpha val="0"/>
                  </a:srgbClr>
                </a:gs>
              </a:gsLst>
              <a:lin ang="5400000" scaled="1"/>
            </a:gradFill>
          </a:ln>
        </p:spPr>
      </p:pic>
      <p:sp>
        <p:nvSpPr>
          <p:cNvPr id="12" name="矩形 11"/>
          <p:cNvSpPr/>
          <p:nvPr/>
        </p:nvSpPr>
        <p:spPr>
          <a:xfrm>
            <a:off x="9905365" y="5854700"/>
            <a:ext cx="1516380" cy="321945"/>
          </a:xfrm>
          <a:prstGeom prst="rect">
            <a:avLst/>
          </a:prstGeom>
        </p:spPr>
        <p:txBody>
          <a:bodyPr wrap="none">
            <a:spAutoFit/>
          </a:bodyPr>
          <a:p>
            <a:pPr algn="ctr">
              <a:buClrTx/>
              <a:buSzTx/>
              <a:buFontTx/>
            </a:pP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安为科技公众号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88620" y="5851525"/>
            <a:ext cx="2572385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广东省东莞市南城区车站路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16</a:t>
            </a: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号碧桂园湾区国际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号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/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商业办公楼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12</a:t>
            </a: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层</a:t>
            </a:r>
            <a:endParaRPr lang="zh-CN" altLang="en-US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963670" y="5826760"/>
            <a:ext cx="152400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400-183-8228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6270627" y="5839460"/>
            <a:ext cx="249618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anxiaozhu@anwei.email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196715" y="4721225"/>
            <a:ext cx="1096010" cy="1096010"/>
            <a:chOff x="11539" y="7555"/>
            <a:chExt cx="1726" cy="1726"/>
          </a:xfrm>
        </p:grpSpPr>
        <p:sp>
          <p:nvSpPr>
            <p:cNvPr id="81" name="椭圆 80"/>
            <p:cNvSpPr/>
            <p:nvPr/>
          </p:nvSpPr>
          <p:spPr>
            <a:xfrm>
              <a:off x="11809" y="7825"/>
              <a:ext cx="1186" cy="1186"/>
            </a:xfrm>
            <a:prstGeom prst="ellipse">
              <a:avLst/>
            </a:prstGeom>
            <a:noFill/>
            <a:ln w="12700" cap="flat" cmpd="sng" algn="ctr">
              <a:solidFill>
                <a:srgbClr val="0043D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11539" y="7555"/>
              <a:ext cx="1726" cy="1726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0043D0"/>
                  </a:gs>
                  <a:gs pos="10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25" name="图片 24" descr="343435333334363b333633363732333bb5e7bbb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010" y="8021"/>
              <a:ext cx="794" cy="79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7019290" y="4721225"/>
            <a:ext cx="1096010" cy="1096010"/>
            <a:chOff x="15599" y="7555"/>
            <a:chExt cx="1726" cy="1726"/>
          </a:xfrm>
        </p:grpSpPr>
        <p:sp>
          <p:nvSpPr>
            <p:cNvPr id="93" name="椭圆 92"/>
            <p:cNvSpPr/>
            <p:nvPr/>
          </p:nvSpPr>
          <p:spPr>
            <a:xfrm>
              <a:off x="15599" y="7555"/>
              <a:ext cx="1726" cy="1726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0043D0"/>
                  </a:gs>
                  <a:gs pos="10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15869" y="7825"/>
              <a:ext cx="1186" cy="1186"/>
            </a:xfrm>
            <a:prstGeom prst="ellipse">
              <a:avLst/>
            </a:prstGeom>
            <a:noFill/>
            <a:ln w="12700" cap="flat" cmpd="sng" algn="ctr">
              <a:solidFill>
                <a:srgbClr val="0043D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26" name="图片 25" descr="343435333336303b333635393534313bd3cabcfe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065" y="8021"/>
              <a:ext cx="794" cy="794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1066800" y="4733290"/>
            <a:ext cx="1096010" cy="1096010"/>
            <a:chOff x="7220" y="7555"/>
            <a:chExt cx="1726" cy="1726"/>
          </a:xfrm>
        </p:grpSpPr>
        <p:sp>
          <p:nvSpPr>
            <p:cNvPr id="73" name="椭圆 72"/>
            <p:cNvSpPr/>
            <p:nvPr/>
          </p:nvSpPr>
          <p:spPr>
            <a:xfrm>
              <a:off x="7490" y="7825"/>
              <a:ext cx="1186" cy="1186"/>
            </a:xfrm>
            <a:prstGeom prst="ellipse">
              <a:avLst/>
            </a:prstGeom>
            <a:noFill/>
            <a:ln w="12700" cap="flat" cmpd="sng" algn="ctr">
              <a:solidFill>
                <a:srgbClr val="0043D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7220" y="7555"/>
              <a:ext cx="1726" cy="1726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0043D0"/>
                  </a:gs>
                  <a:gs pos="10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pic>
          <p:nvPicPr>
            <p:cNvPr id="24" name="图片 23" descr="3b333633343139343bb6a8cebb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86" y="8021"/>
              <a:ext cx="794" cy="794"/>
            </a:xfrm>
            <a:prstGeom prst="rect">
              <a:avLst/>
            </a:prstGeom>
          </p:spPr>
        </p:pic>
      </p:grp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94"/>
</p:tagLst>
</file>

<file path=ppt/tags/tag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594"/>
</p:tagLst>
</file>

<file path=ppt/tags/tag1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94"/>
  <p:tag name="KSO_WM_TEMPLATE_CATEGORY" val="custom"/>
  <p:tag name="KSO_WM_TEMPLATE_MASTER_TYPE" val="0"/>
</p:tagLst>
</file>

<file path=ppt/tags/tag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4"/>
  <p:tag name="KSO_WM_TEMPLATE_CATEGORY" val="custom"/>
  <p:tag name="KSO_WM_UNIT_ISCONTENTSTITLE" val="0"/>
  <p:tag name="KSO_WM_UNIT_VALUE" val="15"/>
  <p:tag name="KSO_WM_UNIT_TEXT_TYPE" val="1"/>
  <p:tag name="KSO_WM_UNIT_PRESET_TEXT" val="单击此处添加文档标题"/>
</p:tagLst>
</file>

<file path=ppt/tags/tag23.xml><?xml version="1.0" encoding="utf-8"?>
<p:tagLst xmlns:p="http://schemas.openxmlformats.org/presentationml/2006/main">
  <p:tag name="KSO_WM_FULL_TEXT_BEAUTIFY_COPY_ID" val="7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4"/>
  <p:tag name="KSO_WM_TEMPLATE_CATEGORY" val="custom"/>
  <p:tag name="KSO_WM_UNIT_ISCONTENTSTITLE" val="0"/>
  <p:tag name="KSO_WM_UNIT_VALUE" val="15"/>
  <p:tag name="KSO_WM_UNIT_TEXT_TYPE" val="1"/>
  <p:tag name="KSO_WM_UNIT_PRESET_TEXT" val="单击此处添加文档标题"/>
</p:tagLst>
</file>

<file path=ppt/tags/tag2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594"/>
  <p:tag name="KSO_WM_TEMPLATE_CATEGORY" val="custom"/>
  <p:tag name="KSO_WM_SLIDE_INDEX" val="1"/>
  <p:tag name="KSO_WM_SLIDE_ID" val="custom20238594_1"/>
  <p:tag name="KSO_WM_TEMPLATE_MASTER_TYPE" val="0"/>
  <p:tag name="KSO_WM_SLIDE_LAYOUT" val="a_f"/>
  <p:tag name="KSO_WM_SLIDE_LAYOUT_CNT" val="1_1"/>
</p:tagLst>
</file>

<file path=ppt/tags/tag26.xml><?xml version="1.0" encoding="utf-8"?>
<p:tagLst xmlns:p="http://schemas.openxmlformats.org/presentationml/2006/main">
  <p:tag name="KSO_WM_UNIT_PLACING_PICTURE_USER_VIEWPORT" val="{&quot;height&quot;:4250,&quot;width&quot;:3548.8377952755905}"/>
</p:tagLst>
</file>

<file path=ppt/tags/tag27.xml><?xml version="1.0" encoding="utf-8"?>
<p:tagLst xmlns:p="http://schemas.openxmlformats.org/presentationml/2006/main">
  <p:tag name="KSO_WM_UNIT_PLACING_PICTURE_USER_VIEWPORT" val="{&quot;height&quot;:10800,&quot;width&quot;:7982}"/>
</p:tagLst>
</file>

<file path=ppt/tags/tag28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1_2"/>
  <p:tag name="KSO_WM_UNIT_INDEX" val="1_1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29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2_2"/>
  <p:tag name="KSO_WM_UNIT_INDEX" val="1_2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0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3_2"/>
  <p:tag name="KSO_WM_UNIT_INDEX" val="1_3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1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4_2"/>
  <p:tag name="KSO_WM_UNIT_INDEX" val="1_4_2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2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1_1"/>
  <p:tag name="KSO_WM_UNIT_INDEX" val="1_1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3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2_1"/>
  <p:tag name="KSO_WM_UNIT_INDEX" val="1_2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4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3_1"/>
  <p:tag name="KSO_WM_UNIT_INDEX" val="1_3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5.xml><?xml version="1.0" encoding="utf-8"?>
<p:tagLst xmlns:p="http://schemas.openxmlformats.org/presentationml/2006/main">
  <p:tag name="KSO_WM_DIAGRAM_VIRTUALLY_FRAME" val="{&quot;height&quot;:414.3000061035156,&quot;left&quot;:-38.712532375177034,&quot;top&quot;:85.14999694824219,&quot;width&quot;:973.8476664737602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i*1_4_1"/>
  <p:tag name="KSO_WM_UNIT_INDEX" val="1_4_1"/>
  <p:tag name="KSO_WM_DIAGRAM_GROUP_CODE" val="m1-1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5,5,5,5,5]}"/>
</p:tagLst>
</file>

<file path=ppt/tags/tag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f*1_1_1"/>
  <p:tag name="KSO_WM_UNIT_INDEX" val="1_1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，文字是思想的提炼，请尽量言简意赅的阐述观点。单击输入您的项正文，文字是思想的提炼，单击此处输入您的智能图形项正文，请尽量言简意赅的阐述观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f*1_2_1"/>
  <p:tag name="KSO_WM_UNIT_INDEX" val="1_2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，文字是思想的提炼，请尽量言简意赅的阐述观点。单击输入您的项正文，文字是思想的提炼，单击此处输入您的智能图形项正文，请尽量言简意赅的阐述观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a*1_2_1"/>
  <p:tag name="KSO_WM_UNIT_INDEX" val="1_2_1"/>
  <p:tag name="KSO_WM_DIAGRAM_GROUP_CODE" val="m1-1"/>
  <p:tag name="KSO_WM_UNIT_TEXT_TYPE" val="1"/>
  <p:tag name="KSO_WM_BEAUTIFY_FLAG" val="#wm#"/>
  <p:tag name="KSO_WM_UNIT_PRESET_TEXT" val="添加项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f*1_4_1"/>
  <p:tag name="KSO_WM_UNIT_INDEX" val="1_4_1"/>
  <p:tag name="KSO_WM_DIAGRAM_GROUP_CODE" val="m1-1"/>
  <p:tag name="KSO_WM_UNIT_TEXT_TYPE" val="1"/>
  <p:tag name="KSO_WM_UNIT_TEXT_LAYER_COUNT" val="1"/>
  <p:tag name="KSO_WM_BEAUTIFY_FLAG" val="#wm#"/>
  <p:tag name="KSO_WM_UNIT_PRESET_TEXT" val="单击此处输入您的智能图形项正文具体内容，文字是您思想的提炼，请尽量言简意赅的阐述观点。单击此处添加正文，文字是您思想的提炼，单击此处输入您的智能图形项正文具体内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0*8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3265_3*m_h_x*1_1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32"/>
  <p:tag name="KSO_WM_DIAGRAM_USE_COLOR_VALUE" val="{&quot;color_scheme&quot;:1,&quot;color_type&quot;:1,&quot;theme_color_indexes&quot;:[5,5,5,5,5,5]}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3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3265_3*m_h_x*1_2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36"/>
  <p:tag name="KSO_WM_DIAGRAM_USE_COLOR_VALUE" val="{&quot;color_scheme&quot;:1,&quot;color_type&quot;:1,&quot;theme_color_indexes&quot;:[5,5,5,5,5,5]}"/>
</p:tagLst>
</file>

<file path=ppt/tags/tag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3265_3*m_h_x*1_3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37"/>
  <p:tag name="KSO_WM_DIAGRAM_USE_COLOR_VALUE" val="{&quot;color_scheme&quot;:1,&quot;color_type&quot;:1,&quot;theme_color_indexes&quot;:[5,5,5,5,5,5]}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a*1_4_1"/>
  <p:tag name="KSO_WM_UNIT_INDEX" val="1_4_1"/>
  <p:tag name="KSO_WM_DIAGRAM_GROUP_CODE" val="m1-1"/>
  <p:tag name="KSO_WM_UNIT_TEXT_TYPE" val="1"/>
  <p:tag name="KSO_WM_BEAUTIFY_FLAG" val="#wm#"/>
  <p:tag name="KSO_WM_UNIT_PRESET_TEXT" val="添加项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0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3265_3*m_h_x*1_4_1"/>
  <p:tag name="KSO_WM_TEMPLATE_CATEGORY" val="diagram"/>
  <p:tag name="KSO_WM_TEMPLATE_INDEX" val="20233265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MH_SHAPE_GUID" val="38"/>
  <p:tag name="KSO_WM_DIAGRAM_USE_COLOR_VALUE" val="{&quot;color_scheme&quot;:1,&quot;color_type&quot;:1,&quot;theme_color_indexes&quot;:[5,5,5,5,5,5]}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a*1_1_1"/>
  <p:tag name="KSO_WM_UNIT_INDEX" val="1_1_1"/>
  <p:tag name="KSO_WM_DIAGRAM_GROUP_CODE" val="m1-1"/>
  <p:tag name="KSO_WM_UNIT_TEXT_TYPE" val="1"/>
  <p:tag name="KSO_WM_BEAUTIFY_FLAG" val="#wm#"/>
  <p:tag name="KSO_WM_UNIT_PRESET_TEXT" val="添加项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f*1_3_1"/>
  <p:tag name="KSO_WM_UNIT_INDEX" val="1_3_1"/>
  <p:tag name="KSO_WM_DIAGRAM_GROUP_CODE" val="m1-1"/>
  <p:tag name="KSO_WM_UNIT_TEXT_TYPE" val="1"/>
  <p:tag name="KSO_WM_UNIT_TEXT_LAYER_COUNT" val="1"/>
  <p:tag name="KSO_WM_BEAUTIFY_FLAG" val="#wm#"/>
  <p:tag name="KSO_WM_UNIT_PRESET_TEXT" val="单击输入您的项正文，文字是思想的提炼，请尽量言简意赅的阐述观点。单击输入您的项正文，文字是思想的提炼，单击此处输入您的智能图形项正文，文字是您思想的提炼，请尽量言简意赅的阐述观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414.3000061035156,&quot;left&quot;:-38.712532375177034,&quot;top&quot;:85.14999694824219,&quot;width&quot;:973.84766647376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3*m_h_a*1_3_1"/>
  <p:tag name="KSO_WM_UNIT_INDEX" val="1_3_1"/>
  <p:tag name="KSO_WM_DIAGRAM_GROUP_CODE" val="m1-1"/>
  <p:tag name="KSO_WM_UNIT_TEXT_TYPE" val="1"/>
  <p:tag name="KSO_WM_BEAUTIFY_FLAG" val="#wm#"/>
  <p:tag name="KSO_WM_UNIT_PRESET_TEXT" val="添加项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48.xml><?xml version="1.0" encoding="utf-8"?>
<p:tagLst xmlns:p="http://schemas.openxmlformats.org/presentationml/2006/main">
  <p:tag name="KSO_WM_SLIDE_ID" val="diagram20230939_3"/>
  <p:tag name="KSO_WM_TEMPLATE_SUBCATEGORY" val="29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0939"/>
  <p:tag name="KSO_WM_SLIDE_TYPE" val="text"/>
  <p:tag name="KSO_WM_SLIDE_SUBTYPE" val="diag"/>
  <p:tag name="KSO_WM_SLIDE_SIZE" val="727.05*321.1"/>
  <p:tag name="KSO_WM_SLIDE_POSITION" val="116.5*178.35"/>
  <p:tag name="KSO_WM_SLIDE_LAYOUT" val="a_m"/>
  <p:tag name="KSO_WM_SLIDE_LAYOUT_CNT" val="1_1"/>
  <p:tag name="KSO_WM_SPECIAL_SOURCE" val="bdnull"/>
  <p:tag name="KSO_WM_DIAGRAM_GROUP_CODE" val="m1-1"/>
  <p:tag name="KSO_WM_SLIDE_DIAGTYPE" val="m"/>
  <p:tag name="resource_record_key" val="{&quot;65&quot;:[20230939],&quot;70&quot;:[3322496]}"/>
</p:tagLst>
</file>

<file path=ppt/tags/tag49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0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1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2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3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4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5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6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7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8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59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0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1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2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3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4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5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6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7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8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69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0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1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2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3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4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5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6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7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8.xml><?xml version="1.0" encoding="utf-8"?>
<p:tagLst xmlns:p="http://schemas.openxmlformats.org/presentationml/2006/main">
  <p:tag name="KSO_WM_DIAGRAM_VIRTUALLY_FRAME" val="{&quot;height&quot;:353.45,&quot;left&quot;:80.7,&quot;top&quot;:123.2,&quot;width&quot;:796.7546456692913}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PP_MARK_KEY" val="d1c26b03-ff47-4b5d-8c4d-59359a776ced"/>
  <p:tag name="COMMONDATA" val="eyJoZGlkIjoiM2JkZGNhNzg5MzIzNjFkNTVhMWY1YmFlNDRjMDE0MGQifQ=="/>
  <p:tag name="resource_record_key" val="{&quot;29&quot;:[50000213,50052448,50000086],&quot;65&quot;:[20238594],&quot;70&quot;:[3322496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条地球职场办公">
  <a:themeElements>
    <a:clrScheme name="自定义 33">
      <a:dk1>
        <a:srgbClr val="000000"/>
      </a:dk1>
      <a:lt1>
        <a:srgbClr val="FFFFFF"/>
      </a:lt1>
      <a:dk2>
        <a:srgbClr val="050F2D"/>
      </a:dk2>
      <a:lt2>
        <a:srgbClr val="CDD7D9"/>
      </a:lt2>
      <a:accent1>
        <a:srgbClr val="304BF3"/>
      </a:accent1>
      <a:accent2>
        <a:srgbClr val="2179B4"/>
      </a:accent2>
      <a:accent3>
        <a:srgbClr val="506EBF"/>
      </a:accent3>
      <a:accent4>
        <a:srgbClr val="6C9835"/>
      </a:accent4>
      <a:accent5>
        <a:srgbClr val="849B4B"/>
      </a:accent5>
      <a:accent6>
        <a:srgbClr val="65893C"/>
      </a:accent6>
      <a:hlink>
        <a:srgbClr val="5F5F5F"/>
      </a:hlink>
      <a:folHlink>
        <a:srgbClr val="969696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5735</Words>
  <Application>WPS 演示</Application>
  <PresentationFormat>On-screen Show (4:3)</PresentationFormat>
  <Paragraphs>457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Arial</vt:lpstr>
      <vt:lpstr>仿宋</vt:lpstr>
      <vt:lpstr>Arial Unicode MS</vt:lpstr>
      <vt:lpstr>Calibri</vt:lpstr>
      <vt:lpstr>Gill Sans MT</vt:lpstr>
      <vt:lpstr>OPPOSans B</vt:lpstr>
      <vt:lpstr>黑体</vt:lpstr>
      <vt:lpstr>Saturday Sans Regular</vt:lpstr>
      <vt:lpstr>Office Theme</vt:lpstr>
      <vt:lpstr>简约风线条地球职场办公</vt:lpstr>
      <vt:lpstr>智慧消防</vt:lpstr>
      <vt:lpstr>公司简介</vt:lpstr>
      <vt:lpstr>企业荣誉</vt:lpstr>
      <vt:lpstr>企业资质</vt:lpstr>
      <vt:lpstr>典型事故与经济损失</vt:lpstr>
      <vt:lpstr>典型事故与经济损失</vt:lpstr>
      <vt:lpstr>典型事故与经济损失</vt:lpstr>
      <vt:lpstr>政策支持</vt:lpstr>
      <vt:lpstr>减员法规</vt:lpstr>
      <vt:lpstr>东莞红头文件</vt:lpstr>
      <vt:lpstr>企业痛点分析</vt:lpstr>
      <vt:lpstr>企业痛点分析</vt:lpstr>
      <vt:lpstr>未来趋势</vt:lpstr>
      <vt:lpstr>总体建设方案： </vt:lpstr>
      <vt:lpstr>平台简介</vt:lpstr>
      <vt:lpstr>低成本建设： 不改变原有消防系统 ， 直接升级智慧消防</vt:lpstr>
      <vt:lpstr>建设内容一： 由原来主机值班 ， 升级为可视化值守屏</vt:lpstr>
      <vt:lpstr>建设内容二： 消防设施实时监测及告警处理</vt:lpstr>
      <vt:lpstr>建设内容三： 消防设施远程反向操控 ， 掌控灭火黄金期</vt:lpstr>
      <vt:lpstr>建设内容四： 安消联动 ， 高效核实火情</vt:lpstr>
      <vt:lpstr>建设内容五： 后台数据中心 ， 赋能高效管控</vt:lpstr>
      <vt:lpstr>建设内容六： 移动端 ， 责任领导随时随地一手掌控</vt:lpstr>
      <vt:lpstr>故障及火警预警 远程反向操控等具体操作流程</vt:lpstr>
      <vt:lpstr>故障及火警预警 远程反向操控等具体操作流程</vt:lpstr>
      <vt:lpstr>建设价值</vt:lpstr>
      <vt:lpstr>建设价值</vt:lpstr>
      <vt:lpstr>建设价值</vt:lpstr>
      <vt:lpstr>建设价值</vt:lpstr>
      <vt:lpstr>建设价值</vt:lpstr>
      <vt:lpstr>建设价值</vt:lpstr>
      <vt:lpstr>标杆案例</vt:lpstr>
      <vt:lpstr>标杆案例</vt:lpstr>
      <vt:lpstr>PowerPoint 演示文稿</vt:lpstr>
      <vt:lpstr>整体服务流程介绍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安小助</cp:lastModifiedBy>
  <cp:revision>488</cp:revision>
  <dcterms:created xsi:type="dcterms:W3CDTF">2025-05-24T11:47:00Z</dcterms:created>
  <dcterms:modified xsi:type="dcterms:W3CDTF">2026-04-21T04:05:26Z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2025-04-28T16:00:00Z</vt:filetime>
  </property>
  <property fmtid="{D5CDD505-2E9C-101B-9397-08002B2CF9AE}" pid="3" name="Creator">
    <vt:lpwstr>WPS 演示</vt:lpwstr>
  </property>
  <property fmtid="{D5CDD505-2E9C-101B-9397-08002B2CF9AE}" pid="4" name="LastSaved">
    <vt:filetime>2025-05-28T16:00:00Z</vt:filetime>
  </property>
  <property fmtid="{D5CDD505-2E9C-101B-9397-08002B2CF9AE}" pid="5" name="ICV">
    <vt:lpwstr>50C40BE49D704DFC891B586B029BFA8C_13</vt:lpwstr>
  </property>
  <property fmtid="{D5CDD505-2E9C-101B-9397-08002B2CF9AE}" pid="6" name="KSOProductBuildVer">
    <vt:lpwstr>2052-12.1.0.25865</vt:lpwstr>
  </property>
</Properties>
</file>